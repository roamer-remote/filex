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今天的分享。在信息爆炸的时代，我们拥有海量数据，却常常陷入“知道很多，但无法有效利用”的困境。今天，我将向大家介绍一个革命性的解决方案——“钉”，一个旨在推动企业知识从静态数据进化为动态智慧的下一代知识引擎。让我们一起开启这场从数据到智慧的进化之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分享将分为五个部分。首先，我们将探讨当前企业在知识管理方面面临的时代背景与核心挑战。接着，详细介绍“钉”的解决方案，特别是其核心的“三级跃迁”理论。然后，我们会深入了解驱动知识进化的五大核心能力。之后，通过具体的应用场景展示“钉”的实际价值。最后，进行总结并展望未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让我们首先进入第一部分，探讨我们所处的时代背景，以及企业在知识管理方面面临的核心挑战。为什么我们说，一场知识革命迫在眉睫？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看似拥有海量数据，但实际上，我们面临着三大困境。首先，超过90%的资料都在沉睡，价值严重流失。其次，知识孤岛现象严重，信息无法有效连接。最后，现有的AI工具存在幻觉风险，无法满足企业级决策的严谨性要求。我们真正的痛点在于，我们拥有的只是一个静态的资料库，而不是一个能指导行动的动态决策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面对这些困境，我们需要新的理论指引。全球顶尖AI专家Andrej Karpathy在2026年提出了LLM-Wiki新范式。他主张，知识管理应该在信息摄入时就完成“编译”，让AI智能体成为我们的知识库管理员，负责知识的摄入、查询、综合和维护。这一革命性的理念，正是我们开发“钉”的理论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接下来，让我们进入第二部分，详细了解“钉”是如何作为一种解决方案，来重构企业知识流动的。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钉”到底是什么？它是Karpathy理论的商业践行平台。“钉”代表着为AI提供准确可信的知识内容，是决策的基石；而“叮”则代表知识碰撞后产生的创新火花。我们的核心使命，就是推动企业知识资产完成从资料库到知识库，最终到决策库的三级跃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钉”的核心是实现知识的三级跃迁。第一阶段是“资料库”，解决文件存储和查找问题。第二阶段是“知识库”，让资料变得可理解、可关联、可搜索。最高阶段是“决策库”，确保每一个回答都有据可查，让知识能够真正支撑企业的关键决策。这是一场从“死”数据到“活”知识的深刻革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要理解“钉”，我们必须区分两种AI：普通的聊天工具和AI智能体。聊天工具适合日常闲聊，而AI智能体则像专业助理，能执行复杂任务。“钉”正是为这些能办事的AI智能体设计的，它通过技能包的形式，让AI能够规范地管理企业知识。简单来说，Chat陪聊，Agent办事，而“钉”只服务于能办事的A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现在，让我们深入第三部分，了解驱动知识进化的五大核心引擎，看看“钉”具体是如何工作的。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第一个引擎是“万物皆可读”。无论您的资料是Word、Excel、PPT，还是各种PDF，甚至是扫描件，“钉”都能自动提取内容，将其转化为结构化的、可检索的知识。这彻底解决了非结构化文档难以利用的问题。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引擎是“网上知识，一键入库”。您只需提供一个主题或网页链接，AI智能体就能自动完成查找、下载、入库、提取和索引的全过程。这意味着，您在网上发现的高价值信息，可以瞬间沉淀为企业可复用的知识资产，实现了从发现到沉淀的完美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引擎是“知识互联”。“钉”通过标签关系图、锚点跳转和全局目录索引，将零散的文件连接成一个互联互通的知识网络。这不仅让知识更容易被发现，更能从中涌现出新的洞见，让知识真正“活”了起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第四个引擎是“安全可控”。企业级应用，安全是基石。“钉”提供了独立的知识库、管理员权限、专用密钥和可控分享等一系列安全机制，确保您的知识资产在分享的同时，得到最高级别的安全保障。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个引擎是“即插即用”。“钉”通过标准化的技能包模式，可以轻松集成到OpenClaw、Hermes等主流AI智能体中。这意味着您现有的AI工具可以无缝获得强大的知识管理能力，让它们专注于执行任务，而将复杂的知识管理交给“钉”来处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了解了核心能力后，让我们看看“钉”在实际业务中能带来哪些价值。我们将通过三个典型的应用场景来具体说明。</a:t>
            </a:r>
          </a:p>
          <a:p>
            <a:pPr marL="0" indent="0" algn="l">
              <a:lnSpc>
                <a:spcPct val="100000"/>
              </a:lnSpc>
            </a:pPr>
            <a:r>
              <a:rPr lang="en-US" sz="1400" b="0" i="0" u="none" strike="noStrike">
                <a:solidFill>
                  <a:srgbClr val="000000"/>
                </a:solidFill>
              </a:rPr>
              <a:t>第一，组织协同与提效。“钉”打破了传统的组织壁垒，连接企业内外部，让信息流转实现零延迟，极大地降低了沟通成本。</a:t>
            </a:r>
          </a:p>
          <a:p>
            <a:pPr marL="0" indent="0" algn="l">
              <a:lnSpc>
                <a:spcPct val="100000"/>
              </a:lnSpc>
            </a:pPr>
            <a:r>
              <a:rPr lang="en-US" sz="1400" b="0" i="0" u="none" strike="noStrike">
                <a:solidFill>
                  <a:srgbClr val="000000"/>
                </a:solidFill>
              </a:rPr>
              <a:t>第二，业务流程自动化。利用低代码和AI能力，实现了审批、合同、供应链等关键流程的自动化处理，减少人工干预，提升了整体效率。</a:t>
            </a:r>
          </a:p>
          <a:p>
            <a:pPr marL="0" indent="0" algn="l">
              <a:lnSpc>
                <a:spcPct val="100000"/>
              </a:lnSpc>
            </a:pPr>
            <a:r>
              <a:rPr lang="en-US" sz="1400" b="0" i="0" u="none" strike="noStrike">
                <a:solidFill>
                  <a:srgbClr val="000000"/>
                </a:solidFill>
              </a:rPr>
              <a:t>第三，数据驱动决策。整合分散的数据孤岛，构建企业级数据驾驶舱，为管理者提供实时的业务洞察，助力科学决策。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第一个场景是研发与文献管理。研发人员可以将找到的文献链接交给AI智能体，由它自动完成入库、提取和索引。这大大提高了文献处理效率，方便快速生成综述，也让新成员能迅速掌握团队知识，加速融入。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场景是合规与质量管理。面对繁多的内部规章制度，员工可以通过AI智能体进行精准查询，并且返回的每一个结果都附带原文出处。这不仅提高了查询效率，更确保了答案的准确性和可追溯性，为企业的合规运营提供了坚实保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第三个场景是团队知识库的持续沉淀。在传统模式下，团队成员往往各自维护笔记，项目结束后这些宝贵的经验往往就随着人员流动而流失了，很难形成企业的“组织记忆”。</a:t>
            </a:r>
          </a:p>
          <a:p>
            <a:pPr marL="0" indent="0" algn="l">
              <a:lnSpc>
                <a:spcPct val="100000"/>
              </a:lnSpc>
            </a:pPr>
            <a:r>
              <a:rPr lang="en-US" sz="1400" b="0" i="0" u="none" strike="noStrike">
                <a:solidFill>
                  <a:srgbClr val="000000"/>
                </a:solidFill>
              </a:rPr>
              <a:t>而在“钉”平台上，我们提供了完善的解决方案：</a:t>
            </a:r>
          </a:p>
          <a:p>
            <a:pPr marL="0" indent="0" algn="l">
              <a:lnSpc>
                <a:spcPct val="100000"/>
              </a:lnSpc>
            </a:pPr>
            <a:r>
              <a:rPr lang="en-US" sz="1400" b="0" i="0" u="none" strike="noStrike">
                <a:solidFill>
                  <a:srgbClr val="000000"/>
                </a:solidFill>
              </a:rPr>
              <a:t>首先，通过统一的知识库工具，我们鼓励每位成员把项目文档、会议纪要、甚至是个人的学习心得都沉淀进来。这一步解决了知识“存”的问题。</a:t>
            </a:r>
          </a:p>
          <a:p>
            <a:pPr marL="0" indent="0" algn="l">
              <a:lnSpc>
                <a:spcPct val="100000"/>
              </a:lnSpc>
            </a:pPr>
            <a:r>
              <a:rPr lang="en-US" sz="1400" b="0" i="0" u="none" strike="noStrike">
                <a:solidFill>
                  <a:srgbClr val="000000"/>
                </a:solidFill>
              </a:rPr>
              <a:t>其次，利用先进的AI智能体能力，系统能持续为这些文档自动打标签、补充摘要，并建立内容间的关联。这一步解决了知识“用”的问题，让知识在流动中增值。</a:t>
            </a:r>
          </a:p>
          <a:p>
            <a:pPr marL="0" indent="0" algn="l">
              <a:lnSpc>
                <a:spcPct val="100000"/>
              </a:lnSpc>
            </a:pPr>
            <a:r>
              <a:rPr lang="en-US" sz="1400" b="0" i="0" u="none" strike="noStrike">
                <a:solidFill>
                  <a:srgbClr val="000000"/>
                </a:solidFill>
              </a:rPr>
              <a:t>最后，随着时间的推移，这些原本零散的个人知识，就会自动汇聚成一个可检索、可跳转、不断生长的团队知识网络。这个网络，就是企业最宝贵的资产，也是我们抵御人员变动风险、保持竞争力的护城河。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最后，让我们对今天的内容进行总结，并展望“钉”将如何开启您企业的知识进化之旅。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三句话可以读懂“钉”。第一，它是Karpathy理论的商业践行者，推动知识三级跃迁。第二，它的正确搭档是AI智能体，而非普通聊天工具。第三，它的核心价值在于提供可信的证据、便捷的入库、可进化的知识库、互联的知识网络和企业级的安全管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钉”不仅仅是一个工具，它是企业在AI时代保持竞争力的核心基础设施。它将释放您沉睡的数据资产，将信息转化为洞察，将知识转化为决策力。未来已来，进化即刻开始。感谢大家的聆听，期待与您一同开启企业的知识进化之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4.svg"/><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7.jpeg"/><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9.jpeg"/><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2.jpeg"/><Relationship Id="rId7" Type="http://schemas.openxmlformats.org/officeDocument/2006/relationships/image" Target="../media/image23.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22.svg"/><Relationship Id="rId4" Type="http://schemas.openxmlformats.org/officeDocument/2006/relationships/image" Target="../media/image21.jpeg"/><Relationship Id="rId9" Type="http://schemas.openxmlformats.org/officeDocument/2006/relationships/image" Target="../media/image25.sv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8.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4.svg"/><Relationship Id="rId4" Type="http://schemas.openxmlformats.org/officeDocument/2006/relationships/image" Target="../media/image26.jpeg"/></Relationships>
</file>

<file path=ppt/slides/_rels/slide14.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jpeg"/><Relationship Id="rId7" Type="http://schemas.openxmlformats.org/officeDocument/2006/relationships/image" Target="../media/image30.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11.svg"/><Relationship Id="rId4" Type="http://schemas.openxmlformats.org/officeDocument/2006/relationships/image" Target="../media/image29.jpe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33.svg"/><Relationship Id="rId4" Type="http://schemas.openxmlformats.org/officeDocument/2006/relationships/image" Target="../media/image32.sv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34.sv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8.svg"/><Relationship Id="rId5" Type="http://schemas.openxmlformats.org/officeDocument/2006/relationships/image" Target="../media/image6.svg"/><Relationship Id="rId4" Type="http://schemas.openxmlformats.org/officeDocument/2006/relationships/image" Target="../media/image37.jpe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40.svg"/><Relationship Id="rId4" Type="http://schemas.openxmlformats.org/officeDocument/2006/relationships/image" Target="../media/image39.jpe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42.svg"/><Relationship Id="rId4" Type="http://schemas.openxmlformats.org/officeDocument/2006/relationships/image" Target="../media/image41.sv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2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2286000"/>
            <a:ext cx="1016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a:ea typeface="Noto Sans SC"/>
                <a:cs typeface="Noto Sans SC"/>
                <a:sym typeface="Noto Sans SC"/>
              </a:rPr>
              <a:t>Ding: Next-Generation Enterprise Knowledge Engine</a:t>
            </a:r>
            <a:endParaRPr lang="en-US" sz="1100"/>
          </a:p>
        </p:txBody>
      </p:sp>
      <p:sp>
        <p:nvSpPr>
          <p:cNvPr id="4" name="AutoShape 4"/>
          <p:cNvSpPr/>
          <p:nvPr/>
        </p:nvSpPr>
        <p:spPr>
          <a:xfrm>
            <a:off x="1016000" y="3683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D3EE"/>
                </a:solidFill>
                <a:latin typeface="Noto Sans SC"/>
                <a:ea typeface="Noto Sans SC"/>
                <a:cs typeface="Noto Sans SC"/>
                <a:sym typeface="Noto Sans SC"/>
              </a:rPr>
              <a:t>The Evolution from Data to Wisdom</a:t>
            </a:r>
            <a:endParaRPr lang="en-US" sz="1100"/>
          </a:p>
        </p:txBody>
      </p:sp>
      <p:sp>
        <p:nvSpPr>
          <p:cNvPr id="5" name="AutoShape 5"/>
          <p:cNvSpPr/>
          <p:nvPr/>
        </p:nvSpPr>
        <p:spPr>
          <a:xfrm>
            <a:off x="1016000" y="4953000"/>
            <a:ext cx="1778000" cy="50800"/>
          </a:xfrm>
          <a:prstGeom prst="roundRect">
            <a:avLst>
              <a:gd name="adj" fmla="val 0"/>
            </a:avLst>
          </a:prstGeom>
          <a:solidFill>
            <a:srgbClr val="22D3E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spc="200">
                <a:solidFill>
                  <a:srgbClr val="FFFFFF">
                    <a:alpha val="60000"/>
                  </a:srgbClr>
                </a:solidFill>
                <a:latin typeface="Noto Sans SC"/>
                <a:ea typeface="Noto Sans SC"/>
                <a:cs typeface="Noto Sans SC"/>
                <a:sym typeface="Noto Sans SC"/>
              </a:rPr>
              <a:t>NEXT-GENERATION ENTERPRISE KNOWLEDGE ENGINE</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22D3EE"/>
                </a:solidFill>
                <a:latin typeface="Noto Sans SC"/>
                <a:ea typeface="Noto Sans SC"/>
                <a:cs typeface="Noto Sans SC"/>
                <a:sym typeface="Noto Sans SC"/>
              </a:rPr>
              <a:t>CONTENTS</a:t>
            </a:r>
            <a:endParaRPr lang="en-US" sz="1100"/>
          </a:p>
        </p:txBody>
      </p:sp>
      <p:sp>
        <p:nvSpPr>
          <p:cNvPr id="4" name="AutoShape 4"/>
          <p:cNvSpPr/>
          <p:nvPr/>
        </p:nvSpPr>
        <p:spPr>
          <a:xfrm>
            <a:off x="762000" y="1524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spc="400">
                <a:solidFill>
                  <a:srgbClr val="E5E7EB">
                    <a:alpha val="80000"/>
                  </a:srgbClr>
                </a:solidFill>
                <a:latin typeface="Noto Sans SC"/>
                <a:ea typeface="Noto Sans SC"/>
                <a:cs typeface="Noto Sans SC"/>
                <a:sym typeface="Noto Sans SC"/>
              </a:rPr>
              <a:t>Knowledge Evolution · Contents Overview</a:t>
            </a:r>
            <a:endParaRPr lang="en-US" sz="1100"/>
          </a:p>
        </p:txBody>
      </p:sp>
      <p:sp>
        <p:nvSpPr>
          <p:cNvPr id="5" name="AutoShape 5"/>
          <p:cNvSpPr/>
          <p:nvPr/>
        </p:nvSpPr>
        <p:spPr>
          <a:xfrm>
            <a:off x="762000" y="2413000"/>
            <a:ext cx="3302000" cy="1841500"/>
          </a:xfrm>
          <a:prstGeom prst="roundRect">
            <a:avLst>
              <a:gd name="adj" fmla="val 5517"/>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26670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D3EE"/>
                </a:solidFill>
                <a:latin typeface="Noto Sans SC"/>
                <a:ea typeface="Noto Sans SC"/>
                <a:cs typeface="Noto Sans SC"/>
                <a:sym typeface="Noto Sans SC"/>
              </a:rPr>
              <a:t>01</a:t>
            </a:r>
            <a:endParaRPr lang="en-US" sz="1100"/>
          </a:p>
        </p:txBody>
      </p:sp>
      <p:sp>
        <p:nvSpPr>
          <p:cNvPr id="7" name="AutoShape 7"/>
          <p:cNvSpPr/>
          <p:nvPr/>
        </p:nvSpPr>
        <p:spPr>
          <a:xfrm>
            <a:off x="1905000" y="2730500"/>
            <a:ext cx="190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Context &amp; Core Challenges</a:t>
            </a:r>
            <a:endParaRPr lang="en-US" sz="1100"/>
          </a:p>
          <a:p>
            <a:pPr marL="0" indent="0" algn="l">
              <a:lnSpc>
                <a:spcPct val="125000"/>
              </a:lnSpc>
              <a:spcBef>
                <a:spcPts val="800"/>
              </a:spcBef>
            </a:pPr>
            <a:r>
              <a:rPr lang="en-US" sz="1300" b="0" i="0" u="none" strike="noStrike">
                <a:solidFill>
                  <a:srgbClr val="D1D5DB"/>
                </a:solidFill>
                <a:latin typeface="Noto Sans SC"/>
                <a:ea typeface="Noto Sans SC"/>
                <a:cs typeface="Noto Sans SC"/>
                <a:sym typeface="Noto Sans SC"/>
              </a:rPr>
              <a:t>Why Do We Need a Knowledge Revolution?</a:t>
            </a:r>
          </a:p>
        </p:txBody>
      </p:sp>
      <p:sp>
        <p:nvSpPr>
          <p:cNvPr id="8" name="AutoShape 8"/>
          <p:cNvSpPr/>
          <p:nvPr/>
        </p:nvSpPr>
        <p:spPr>
          <a:xfrm>
            <a:off x="4445000" y="2413000"/>
            <a:ext cx="3302000" cy="1841500"/>
          </a:xfrm>
          <a:prstGeom prst="roundRect">
            <a:avLst>
              <a:gd name="adj" fmla="val 5517"/>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635500" y="26670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D3EE"/>
                </a:solidFill>
                <a:latin typeface="Noto Sans SC"/>
                <a:ea typeface="Noto Sans SC"/>
                <a:cs typeface="Noto Sans SC"/>
                <a:sym typeface="Noto Sans SC"/>
              </a:rPr>
              <a:t>02</a:t>
            </a:r>
            <a:endParaRPr lang="en-US" sz="1100"/>
          </a:p>
        </p:txBody>
      </p:sp>
      <p:sp>
        <p:nvSpPr>
          <p:cNvPr id="10" name="AutoShape 10"/>
          <p:cNvSpPr/>
          <p:nvPr/>
        </p:nvSpPr>
        <p:spPr>
          <a:xfrm>
            <a:off x="5588000" y="2730500"/>
            <a:ext cx="190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Ding’s Solution</a:t>
            </a:r>
            <a:endParaRPr lang="en-US" sz="1100"/>
          </a:p>
          <a:p>
            <a:pPr marL="0" indent="0" algn="l">
              <a:lnSpc>
                <a:spcPct val="125000"/>
              </a:lnSpc>
              <a:spcBef>
                <a:spcPts val="800"/>
              </a:spcBef>
            </a:pPr>
            <a:r>
              <a:rPr lang="en-US" sz="1300" b="0" i="0" u="none" strike="noStrike">
                <a:solidFill>
                  <a:srgbClr val="D1D5DB"/>
                </a:solidFill>
                <a:latin typeface="Noto Sans SC"/>
                <a:ea typeface="Noto Sans SC"/>
                <a:cs typeface="Noto Sans SC"/>
                <a:sym typeface="Noto Sans SC"/>
              </a:rPr>
              <a:t>Re-architecting Enterprise Knowledge Flow</a:t>
            </a:r>
          </a:p>
        </p:txBody>
      </p:sp>
      <p:sp>
        <p:nvSpPr>
          <p:cNvPr id="11" name="AutoShape 11"/>
          <p:cNvSpPr/>
          <p:nvPr/>
        </p:nvSpPr>
        <p:spPr>
          <a:xfrm>
            <a:off x="8128000" y="2413000"/>
            <a:ext cx="3302000" cy="1841500"/>
          </a:xfrm>
          <a:prstGeom prst="roundRect">
            <a:avLst>
              <a:gd name="adj" fmla="val 5517"/>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318500" y="26670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D3EE"/>
                </a:solidFill>
                <a:latin typeface="Noto Sans SC"/>
                <a:ea typeface="Noto Sans SC"/>
                <a:cs typeface="Noto Sans SC"/>
                <a:sym typeface="Noto Sans SC"/>
              </a:rPr>
              <a:t>03</a:t>
            </a:r>
            <a:endParaRPr lang="en-US" sz="1100"/>
          </a:p>
        </p:txBody>
      </p:sp>
      <p:sp>
        <p:nvSpPr>
          <p:cNvPr id="13" name="AutoShape 13"/>
          <p:cNvSpPr/>
          <p:nvPr/>
        </p:nvSpPr>
        <p:spPr>
          <a:xfrm>
            <a:off x="9271000" y="2730500"/>
            <a:ext cx="190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Ding’s Core Capabilities</a:t>
            </a:r>
            <a:endParaRPr lang="en-US" sz="1100"/>
          </a:p>
          <a:p>
            <a:pPr marL="0" indent="0" algn="l">
              <a:lnSpc>
                <a:spcPct val="125000"/>
              </a:lnSpc>
              <a:spcBef>
                <a:spcPts val="800"/>
              </a:spcBef>
            </a:pPr>
            <a:r>
              <a:rPr lang="en-US" sz="1300" b="0" i="0" u="none" strike="noStrike">
                <a:solidFill>
                  <a:srgbClr val="D1D5DB"/>
                </a:solidFill>
                <a:latin typeface="Noto Sans SC"/>
                <a:ea typeface="Noto Sans SC"/>
                <a:cs typeface="Noto Sans SC"/>
                <a:sym typeface="Noto Sans SC"/>
              </a:rPr>
              <a:t>Five Engines Driving Knowledge Evolution</a:t>
            </a:r>
          </a:p>
        </p:txBody>
      </p:sp>
      <p:sp>
        <p:nvSpPr>
          <p:cNvPr id="14" name="AutoShape 14"/>
          <p:cNvSpPr/>
          <p:nvPr/>
        </p:nvSpPr>
        <p:spPr>
          <a:xfrm>
            <a:off x="2413000" y="4572000"/>
            <a:ext cx="3683000" cy="1841500"/>
          </a:xfrm>
          <a:prstGeom prst="roundRect">
            <a:avLst>
              <a:gd name="adj" fmla="val 5517"/>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2667000" y="4826000"/>
            <a:ext cx="88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D3EE"/>
                </a:solidFill>
                <a:latin typeface="Noto Sans SC"/>
                <a:ea typeface="Noto Sans SC"/>
                <a:cs typeface="Noto Sans SC"/>
                <a:sym typeface="Noto Sans SC"/>
              </a:rPr>
              <a:t>04</a:t>
            </a:r>
            <a:endParaRPr lang="en-US" sz="1100"/>
          </a:p>
        </p:txBody>
      </p:sp>
      <p:sp>
        <p:nvSpPr>
          <p:cNvPr id="16" name="AutoShape 16"/>
          <p:cNvSpPr/>
          <p:nvPr/>
        </p:nvSpPr>
        <p:spPr>
          <a:xfrm>
            <a:off x="3810000" y="4889500"/>
            <a:ext cx="203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Application Scenarios</a:t>
            </a:r>
            <a:endParaRPr lang="en-US" sz="1100"/>
          </a:p>
          <a:p>
            <a:pPr marL="0" indent="0" algn="l">
              <a:lnSpc>
                <a:spcPct val="125000"/>
              </a:lnSpc>
              <a:spcBef>
                <a:spcPts val="800"/>
              </a:spcBef>
            </a:pPr>
            <a:r>
              <a:rPr lang="en-US" sz="1300" b="0" i="0" u="none" strike="noStrike">
                <a:solidFill>
                  <a:srgbClr val="D1D5DB"/>
                </a:solidFill>
                <a:latin typeface="Noto Sans SC"/>
                <a:ea typeface="Noto Sans SC"/>
                <a:cs typeface="Noto Sans SC"/>
                <a:sym typeface="Noto Sans SC"/>
              </a:rPr>
              <a:t>Ding’s Real Business Value</a:t>
            </a:r>
          </a:p>
        </p:txBody>
      </p:sp>
      <p:sp>
        <p:nvSpPr>
          <p:cNvPr id="17" name="AutoShape 17"/>
          <p:cNvSpPr/>
          <p:nvPr/>
        </p:nvSpPr>
        <p:spPr>
          <a:xfrm>
            <a:off x="6223000" y="4572000"/>
            <a:ext cx="3683000" cy="1841500"/>
          </a:xfrm>
          <a:prstGeom prst="roundRect">
            <a:avLst>
              <a:gd name="adj" fmla="val 5517"/>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477000" y="4826000"/>
            <a:ext cx="88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D3EE"/>
                </a:solidFill>
                <a:latin typeface="Noto Sans SC"/>
                <a:ea typeface="Noto Sans SC"/>
                <a:cs typeface="Noto Sans SC"/>
                <a:sym typeface="Noto Sans SC"/>
              </a:rPr>
              <a:t>05</a:t>
            </a:r>
            <a:endParaRPr lang="en-US" sz="1100"/>
          </a:p>
        </p:txBody>
      </p:sp>
      <p:sp>
        <p:nvSpPr>
          <p:cNvPr id="19" name="AutoShape 19"/>
          <p:cNvSpPr/>
          <p:nvPr/>
        </p:nvSpPr>
        <p:spPr>
          <a:xfrm>
            <a:off x="7620000" y="4889500"/>
            <a:ext cx="203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Summary &amp; Outlook</a:t>
            </a:r>
            <a:endParaRPr lang="en-US" sz="1100"/>
          </a:p>
          <a:p>
            <a:pPr marL="0" indent="0" algn="l">
              <a:lnSpc>
                <a:spcPct val="125000"/>
              </a:lnSpc>
              <a:spcBef>
                <a:spcPts val="800"/>
              </a:spcBef>
            </a:pPr>
            <a:r>
              <a:rPr lang="en-US" sz="1300" b="0" i="0" u="none" strike="noStrike">
                <a:solidFill>
                  <a:srgbClr val="D1D5DB"/>
                </a:solidFill>
                <a:latin typeface="Noto Sans SC"/>
                <a:ea typeface="Noto Sans SC"/>
                <a:cs typeface="Noto Sans SC"/>
                <a:sym typeface="Noto Sans SC"/>
              </a:rPr>
              <a:t>Begin Your Knowledge Evolution Journey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905000"/>
            <a:ext cx="228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9600" b="1" i="0" u="none" strike="noStrike">
                <a:solidFill>
                  <a:srgbClr val="22D3EE"/>
                </a:solidFill>
                <a:latin typeface="Noto Sans SC"/>
                <a:ea typeface="Noto Sans SC"/>
                <a:cs typeface="Noto Sans SC"/>
                <a:sym typeface="Noto Sans SC"/>
              </a:rPr>
              <a:t>01</a:t>
            </a:r>
            <a:endParaRPr lang="en-US" sz="1100"/>
          </a:p>
        </p:txBody>
      </p:sp>
      <p:sp>
        <p:nvSpPr>
          <p:cNvPr id="4" name="AutoShape 4"/>
          <p:cNvSpPr/>
          <p:nvPr/>
        </p:nvSpPr>
        <p:spPr>
          <a:xfrm>
            <a:off x="762000" y="3683000"/>
            <a:ext cx="1066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FFFFFF"/>
                </a:solidFill>
                <a:latin typeface="Noto Sans SC"/>
                <a:ea typeface="Noto Sans SC"/>
                <a:cs typeface="Noto Sans SC"/>
                <a:sym typeface="Noto Sans SC"/>
              </a:rPr>
              <a:t>Context &amp; Core Challenges</a:t>
            </a:r>
            <a:endParaRPr lang="en-US" sz="1100"/>
          </a:p>
        </p:txBody>
      </p:sp>
      <p:sp>
        <p:nvSpPr>
          <p:cNvPr id="5" name="AutoShape 5"/>
          <p:cNvSpPr/>
          <p:nvPr/>
        </p:nvSpPr>
        <p:spPr>
          <a:xfrm>
            <a:off x="762000" y="5207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a:solidFill>
                  <a:srgbClr val="E5E7EB">
                    <a:alpha val="90196"/>
                  </a:srgbClr>
                </a:solidFill>
                <a:latin typeface="Noto Sans SC"/>
                <a:ea typeface="Noto Sans SC"/>
                <a:cs typeface="Noto Sans SC"/>
                <a:sym typeface="Noto Sans SC"/>
              </a:rPr>
              <a:t>Why Do We Need a Knowledge Revolution?</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The Knowledge Dilemma: From “Owning” to “Effectively Using”</a:t>
            </a:r>
            <a:endParaRPr lang="en-US" sz="1100"/>
          </a:p>
        </p:txBody>
      </p:sp>
      <p:sp>
        <p:nvSpPr>
          <p:cNvPr id="4" name="AutoShape 4"/>
          <p:cNvSpPr/>
          <p:nvPr/>
        </p:nvSpPr>
        <p:spPr>
          <a:xfrm>
            <a:off x="762000" y="1651000"/>
            <a:ext cx="3302000" cy="3429000"/>
          </a:xfrm>
          <a:prstGeom prst="roundRect">
            <a:avLst>
              <a:gd name="adj" fmla="val 4615"/>
            </a:avLst>
          </a:prstGeom>
          <a:solidFill>
            <a:srgbClr val="1E293B">
              <a:alpha val="90000"/>
            </a:srgbClr>
          </a:solidFill>
          <a:ln w="12700" cap="flat" cmpd="sng">
            <a:solidFill>
              <a:srgbClr val="334155">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68500"/>
            <a:ext cx="457200" cy="457200"/>
          </a:xfrm>
          <a:prstGeom prst="rect">
            <a:avLst/>
          </a:prstGeom>
        </p:spPr>
      </p:pic>
      <p:sp>
        <p:nvSpPr>
          <p:cNvPr id="6" name="AutoShape 6"/>
          <p:cNvSpPr/>
          <p:nvPr/>
        </p:nvSpPr>
        <p:spPr>
          <a:xfrm>
            <a:off x="1651000" y="1968500"/>
            <a:ext cx="2159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900" b="1" i="0" u="none" strike="noStrike">
                <a:solidFill>
                  <a:srgbClr val="FFFFFF"/>
                </a:solidFill>
                <a:latin typeface="Noto Sans SC"/>
                <a:ea typeface="Noto Sans SC"/>
                <a:cs typeface="Noto Sans SC"/>
                <a:sym typeface="Noto Sans SC"/>
              </a:rPr>
              <a:t>Data Dormancy, Value Erosion</a:t>
            </a:r>
            <a:endParaRPr lang="en-US" sz="1100"/>
          </a:p>
        </p:txBody>
      </p:sp>
      <p:sp>
        <p:nvSpPr>
          <p:cNvPr id="7" name="AutoShape 7"/>
          <p:cNvSpPr/>
          <p:nvPr/>
        </p:nvSpPr>
        <p:spPr>
          <a:xfrm>
            <a:off x="1016000" y="2794000"/>
            <a:ext cx="2794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3400" b="1" i="0" u="none" strike="noStrike">
                <a:solidFill>
                  <a:srgbClr val="22D3EE"/>
                </a:solidFill>
                <a:latin typeface="Noto Sans SC"/>
                <a:ea typeface="Noto Sans SC"/>
                <a:cs typeface="Noto Sans SC"/>
                <a:sym typeface="Noto Sans SC"/>
              </a:rPr>
              <a:t>Over 90%</a:t>
            </a:r>
            <a:r>
              <a:rPr lang="en-US" sz="1400" b="0" i="0" u="none" strike="noStrike">
                <a:solidFill>
                  <a:srgbClr val="D1D5DB"/>
                </a:solidFill>
                <a:latin typeface="Noto Sans SC"/>
                <a:ea typeface="Noto Sans SC"/>
                <a:cs typeface="Noto Sans SC"/>
                <a:sym typeface="Noto Sans SC"/>
              </a:rPr>
              <a:t> of enterprise data sits “dormant” — archived, forgotten, scattered across silos, and impossible to retrieve effectively.</a:t>
            </a:r>
            <a:endParaRPr lang="en-US" sz="1100"/>
          </a:p>
          <a:p>
            <a:pPr marL="0" indent="0" algn="l">
              <a:lnSpc>
                <a:spcPct val="108333"/>
              </a:lnSpc>
              <a:spcBef>
                <a:spcPts val="1200"/>
              </a:spcBef>
            </a:pPr>
            <a:r>
              <a:rPr lang="en-US" sz="1300" b="0" i="0" u="none" strike="noStrike">
                <a:solidFill>
                  <a:srgbClr val="9CA3AF"/>
                </a:solidFill>
                <a:latin typeface="Noto Sans SC"/>
                <a:ea typeface="Noto Sans SC"/>
                <a:cs typeface="Noto Sans SC"/>
                <a:sym typeface="Noto Sans SC"/>
              </a:rPr>
              <a:t>When critical information is needed, we still experience the pain of “finding a needle in a haystack.”</a:t>
            </a:r>
          </a:p>
        </p:txBody>
      </p:sp>
      <p:sp>
        <p:nvSpPr>
          <p:cNvPr id="8" name="AutoShape 8"/>
          <p:cNvSpPr/>
          <p:nvPr/>
        </p:nvSpPr>
        <p:spPr>
          <a:xfrm>
            <a:off x="4445000" y="1651000"/>
            <a:ext cx="3302000" cy="3429000"/>
          </a:xfrm>
          <a:prstGeom prst="roundRect">
            <a:avLst>
              <a:gd name="adj" fmla="val 4615"/>
            </a:avLst>
          </a:prstGeom>
          <a:solidFill>
            <a:srgbClr val="1E293B">
              <a:alpha val="90000"/>
            </a:srgbClr>
          </a:solidFill>
          <a:ln w="12700" cap="flat" cmpd="sng">
            <a:solidFill>
              <a:srgbClr val="334155">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968500"/>
            <a:ext cx="457200" cy="457200"/>
          </a:xfrm>
          <a:prstGeom prst="rect">
            <a:avLst/>
          </a:prstGeom>
        </p:spPr>
      </p:pic>
      <p:sp>
        <p:nvSpPr>
          <p:cNvPr id="10" name="AutoShape 10"/>
          <p:cNvSpPr/>
          <p:nvPr/>
        </p:nvSpPr>
        <p:spPr>
          <a:xfrm>
            <a:off x="5334000" y="1968500"/>
            <a:ext cx="2159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900" b="1" i="0" u="none" strike="noStrike">
                <a:solidFill>
                  <a:srgbClr val="FFFFFF"/>
                </a:solidFill>
                <a:latin typeface="Noto Sans SC"/>
                <a:ea typeface="Noto Sans SC"/>
                <a:cs typeface="Noto Sans SC"/>
                <a:sym typeface="Noto Sans SC"/>
              </a:rPr>
              <a:t>Knowledge Silos, Disconnected</a:t>
            </a:r>
            <a:endParaRPr lang="en-US" sz="1100"/>
          </a:p>
        </p:txBody>
      </p:sp>
      <p:sp>
        <p:nvSpPr>
          <p:cNvPr id="11" name="AutoShape 11"/>
          <p:cNvSpPr/>
          <p:nvPr/>
        </p:nvSpPr>
        <p:spPr>
          <a:xfrm>
            <a:off x="4699000" y="2794000"/>
            <a:ext cx="2794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D1D5DB"/>
                </a:solidFill>
                <a:latin typeface="Noto Sans SC"/>
                <a:ea typeface="Noto Sans SC"/>
                <a:cs typeface="Noto Sans SC"/>
                <a:sym typeface="Noto Sans SC"/>
              </a:rPr>
              <a:t>Data from different departments and projects exist in isolation, forming independent knowledge silos.</a:t>
            </a:r>
            <a:endParaRPr lang="en-US" sz="1100"/>
          </a:p>
          <a:p>
            <a:pPr marL="0" indent="0" algn="l">
              <a:lnSpc>
                <a:spcPct val="116666"/>
              </a:lnSpc>
              <a:spcBef>
                <a:spcPts val="1200"/>
              </a:spcBef>
            </a:pPr>
            <a:r>
              <a:rPr lang="en-US" sz="1300" b="0" i="0" u="none" strike="noStrike">
                <a:solidFill>
                  <a:srgbClr val="9CA3AF"/>
                </a:solidFill>
                <a:latin typeface="Noto Sans SC"/>
                <a:ea typeface="Noto Sans SC"/>
                <a:cs typeface="Noto Sans SC"/>
                <a:sym typeface="Noto Sans SC"/>
              </a:rPr>
              <a:t>Information lacks logical associations, unable to form synergies — let alone surface new insights and business opportunities.</a:t>
            </a:r>
          </a:p>
        </p:txBody>
      </p:sp>
      <p:sp>
        <p:nvSpPr>
          <p:cNvPr id="12" name="AutoShape 12"/>
          <p:cNvSpPr/>
          <p:nvPr/>
        </p:nvSpPr>
        <p:spPr>
          <a:xfrm>
            <a:off x="8128000" y="1651000"/>
            <a:ext cx="3302000" cy="3429000"/>
          </a:xfrm>
          <a:prstGeom prst="roundRect">
            <a:avLst>
              <a:gd name="adj" fmla="val 4615"/>
            </a:avLst>
          </a:prstGeom>
          <a:solidFill>
            <a:srgbClr val="1E293B">
              <a:alpha val="90000"/>
            </a:srgbClr>
          </a:solidFill>
          <a:ln w="12700" cap="flat" cmpd="sng">
            <a:solidFill>
              <a:srgbClr val="334155">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68500"/>
            <a:ext cx="457200" cy="457200"/>
          </a:xfrm>
          <a:prstGeom prst="rect">
            <a:avLst/>
          </a:prstGeom>
        </p:spPr>
      </p:pic>
      <p:sp>
        <p:nvSpPr>
          <p:cNvPr id="14" name="AutoShape 14"/>
          <p:cNvSpPr/>
          <p:nvPr/>
        </p:nvSpPr>
        <p:spPr>
          <a:xfrm>
            <a:off x="9017000" y="1968500"/>
            <a:ext cx="2159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900" b="1" i="0" u="none" strike="noStrike">
                <a:solidFill>
                  <a:srgbClr val="FFFFFF"/>
                </a:solidFill>
                <a:latin typeface="Noto Sans SC"/>
                <a:ea typeface="Noto Sans SC"/>
                <a:cs typeface="Noto Sans SC"/>
                <a:sym typeface="Noto Sans SC"/>
              </a:rPr>
              <a:t>AI Hallucination, Decision Risk</a:t>
            </a:r>
            <a:endParaRPr lang="en-US" sz="1100"/>
          </a:p>
        </p:txBody>
      </p:sp>
      <p:sp>
        <p:nvSpPr>
          <p:cNvPr id="15" name="AutoShape 15"/>
          <p:cNvSpPr/>
          <p:nvPr/>
        </p:nvSpPr>
        <p:spPr>
          <a:xfrm>
            <a:off x="8382000" y="2794000"/>
            <a:ext cx="2794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D1D5DB"/>
                </a:solidFill>
                <a:latin typeface="Noto Sans SC"/>
                <a:ea typeface="Noto Sans SC"/>
                <a:cs typeface="Noto Sans SC"/>
                <a:sym typeface="Noto Sans SC"/>
              </a:rPr>
              <a:t>Today’s AI chat tools often provide answers without reliable sources — sometimes even “confidently fabricating nonsense.”</a:t>
            </a:r>
            <a:endParaRPr lang="en-US" sz="1100"/>
          </a:p>
          <a:p>
            <a:pPr marL="0" indent="0" algn="l">
              <a:lnSpc>
                <a:spcPct val="116666"/>
              </a:lnSpc>
              <a:spcBef>
                <a:spcPts val="1200"/>
              </a:spcBef>
            </a:pPr>
            <a:r>
              <a:rPr lang="en-US" sz="1300" b="0" i="0" u="none" strike="noStrike">
                <a:solidFill>
                  <a:srgbClr val="9CA3AF"/>
                </a:solidFill>
                <a:latin typeface="Noto Sans SC"/>
                <a:ea typeface="Noto Sans SC"/>
                <a:cs typeface="Noto Sans SC"/>
                <a:sym typeface="Noto Sans SC"/>
              </a:rPr>
              <a:t>In R&amp;D, compliance, and strategic decision-making scenarios that demand precision, these answers cannot be trusted.</a:t>
            </a:r>
          </a:p>
        </p:txBody>
      </p:sp>
      <p:sp>
        <p:nvSpPr>
          <p:cNvPr id="16" name="AutoShape 16"/>
          <p:cNvSpPr/>
          <p:nvPr/>
        </p:nvSpPr>
        <p:spPr>
          <a:xfrm>
            <a:off x="762000" y="5334000"/>
            <a:ext cx="10668000" cy="1143000"/>
          </a:xfrm>
          <a:prstGeom prst="roundRect">
            <a:avLst>
              <a:gd name="adj" fmla="val 8888"/>
            </a:avLst>
          </a:prstGeom>
          <a:solidFill>
            <a:srgbClr val="0F172A">
              <a:alpha val="95000"/>
            </a:srgbClr>
          </a:solidFill>
          <a:ln w="25400" cap="flat" cmpd="sng">
            <a:solidFill>
              <a:srgbClr val="22D3EE">
                <a:alpha val="6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000" y="5613400"/>
            <a:ext cx="584200" cy="584200"/>
          </a:xfrm>
          <a:prstGeom prst="rect">
            <a:avLst/>
          </a:prstGeom>
        </p:spPr>
      </p:pic>
      <p:sp>
        <p:nvSpPr>
          <p:cNvPr id="18" name="AutoShape 18"/>
          <p:cNvSpPr/>
          <p:nvPr/>
        </p:nvSpPr>
        <p:spPr>
          <a:xfrm>
            <a:off x="2032000" y="5461000"/>
            <a:ext cx="901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Core Pain Point: What we have is a “Data Library,” not an actionable “Decision Hub.”</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Theoretical Foundation: Karpathy’s LLM-Wiki Paradigm</a:t>
            </a:r>
            <a:endParaRPr lang="en-US" sz="1100"/>
          </a:p>
        </p:txBody>
      </p:sp>
      <p:sp>
        <p:nvSpPr>
          <p:cNvPr id="4" name="AutoShape 4"/>
          <p:cNvSpPr/>
          <p:nvPr/>
        </p:nvSpPr>
        <p:spPr>
          <a:xfrm>
            <a:off x="762000" y="1778000"/>
            <a:ext cx="3048000" cy="4318000"/>
          </a:xfrm>
          <a:prstGeom prst="roundRect">
            <a:avLst>
              <a:gd name="adj" fmla="val 5000"/>
            </a:avLst>
          </a:prstGeom>
          <a:solidFill>
            <a:srgbClr val="1E293B">
              <a:alpha val="90000"/>
            </a:srgbClr>
          </a:solidFill>
          <a:ln w="12700" cap="flat" cmpd="sng">
            <a:solidFill>
              <a:srgbClr val="22D3EE">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t="4999" b="5000"/>
          <a:stretch>
            <a:fillRect/>
          </a:stretch>
        </p:blipFill>
        <p:spPr>
          <a:xfrm>
            <a:off x="1016000" y="2032000"/>
            <a:ext cx="2540000" cy="2286000"/>
          </a:xfrm>
          <a:prstGeom prst="roundRect">
            <a:avLst>
              <a:gd name="adj" fmla="val 6666"/>
            </a:avLst>
          </a:prstGeom>
          <a:noFill/>
          <a:ln w="25400" cap="flat" cmpd="sng">
            <a:noFill/>
            <a:prstDash val="solid"/>
            <a:round/>
          </a:ln>
        </p:spPr>
      </p:pic>
      <p:sp>
        <p:nvSpPr>
          <p:cNvPr id="6" name="AutoShape 6"/>
          <p:cNvSpPr/>
          <p:nvPr/>
        </p:nvSpPr>
        <p:spPr>
          <a:xfrm>
            <a:off x="952500" y="4572000"/>
            <a:ext cx="2667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2000" b="1" i="0" u="none" strike="noStrike">
                <a:solidFill>
                  <a:srgbClr val="FFFFFF"/>
                </a:solidFill>
                <a:latin typeface="Noto Sans SC"/>
                <a:ea typeface="Noto Sans SC"/>
                <a:cs typeface="Noto Sans SC"/>
                <a:sym typeface="Noto Sans SC"/>
              </a:rPr>
              <a:t>Andrej Karpathy</a:t>
            </a:r>
            <a:endParaRPr lang="en-US" sz="1100"/>
          </a:p>
          <a:p>
            <a:pPr marL="0" indent="0" algn="ctr">
              <a:lnSpc>
                <a:spcPct val="116666"/>
              </a:lnSpc>
            </a:pPr>
            <a:r>
              <a:rPr lang="en-US" sz="1300" b="0" i="0" u="none" strike="noStrike">
                <a:solidFill>
                  <a:srgbClr val="D1D5DB"/>
                </a:solidFill>
                <a:latin typeface="Noto Sans SC"/>
                <a:ea typeface="Noto Sans SC"/>
                <a:cs typeface="Noto Sans SC"/>
                <a:sym typeface="Noto Sans SC"/>
              </a:rPr>
              <a:t>World-Class AI Expert</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Noto Sans SC"/>
                <a:ea typeface="Noto Sans SC"/>
                <a:cs typeface="Noto Sans SC"/>
                <a:sym typeface="Noto Sans SC"/>
              </a:rPr>
              <a:t>Former Core Member, OpenAI &amp; Tesla</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Noto Sans SC"/>
                <a:ea typeface="Noto Sans SC"/>
                <a:cs typeface="Noto Sans SC"/>
                <a:sym typeface="Noto Sans SC"/>
              </a:rPr>
              <a:t>Proposed a revolutionary knowledge paradigm in 2026</a:t>
            </a:r>
          </a:p>
        </p:txBody>
      </p:sp>
      <p:sp>
        <p:nvSpPr>
          <p:cNvPr id="7" name="AutoShape 7"/>
          <p:cNvSpPr/>
          <p:nvPr/>
        </p:nvSpPr>
        <p:spPr>
          <a:xfrm>
            <a:off x="4318000" y="1778000"/>
            <a:ext cx="7112000" cy="1397000"/>
          </a:xfrm>
          <a:prstGeom prst="roundRect">
            <a:avLst>
              <a:gd name="adj" fmla="val 7272"/>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2095500"/>
            <a:ext cx="609600" cy="609600"/>
          </a:xfrm>
          <a:prstGeom prst="rect">
            <a:avLst/>
          </a:prstGeom>
        </p:spPr>
      </p:pic>
      <p:sp>
        <p:nvSpPr>
          <p:cNvPr id="9" name="AutoShape 9"/>
          <p:cNvSpPr/>
          <p:nvPr/>
        </p:nvSpPr>
        <p:spPr>
          <a:xfrm>
            <a:off x="5461000" y="1968500"/>
            <a:ext cx="571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D3EE"/>
                </a:solidFill>
                <a:latin typeface="Noto Sans SC"/>
                <a:ea typeface="Noto Sans SC"/>
                <a:cs typeface="Noto Sans SC"/>
                <a:sym typeface="Noto Sans SC"/>
              </a:rPr>
              <a:t>The End of the Traditional Model</a:t>
            </a:r>
            <a:endParaRPr lang="en-US" sz="1100"/>
          </a:p>
          <a:p>
            <a:pPr marL="0" indent="0" algn="l">
              <a:lnSpc>
                <a:spcPct val="108333"/>
              </a:lnSpc>
              <a:spcBef>
                <a:spcPts val="800"/>
              </a:spcBef>
            </a:pPr>
            <a:r>
              <a:rPr lang="en-US" sz="1300" b="0" i="0" u="none" strike="noStrike">
                <a:solidFill>
                  <a:srgbClr val="E5E7EB"/>
                </a:solidFill>
                <a:latin typeface="Noto Sans SC"/>
                <a:ea typeface="Noto Sans SC"/>
                <a:cs typeface="Noto Sans SC"/>
                <a:sym typeface="Noto Sans SC"/>
              </a:rPr>
              <a:t>We used to “ask first, search later,” piecing together answers from massive archives each time — causing knowledge to remain unconsolidated in a “use-and-discard” state of inefficiency.</a:t>
            </a:r>
          </a:p>
        </p:txBody>
      </p:sp>
      <p:sp>
        <p:nvSpPr>
          <p:cNvPr id="10" name="AutoShape 10"/>
          <p:cNvSpPr/>
          <p:nvPr/>
        </p:nvSpPr>
        <p:spPr>
          <a:xfrm>
            <a:off x="4318000" y="3429000"/>
            <a:ext cx="7112000" cy="1524000"/>
          </a:xfrm>
          <a:prstGeom prst="roundRect">
            <a:avLst>
              <a:gd name="adj" fmla="val 6666"/>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2000" y="3759200"/>
            <a:ext cx="609600" cy="609600"/>
          </a:xfrm>
          <a:prstGeom prst="rect">
            <a:avLst/>
          </a:prstGeom>
        </p:spPr>
      </p:pic>
      <p:sp>
        <p:nvSpPr>
          <p:cNvPr id="12" name="AutoShape 12"/>
          <p:cNvSpPr/>
          <p:nvPr/>
        </p:nvSpPr>
        <p:spPr>
          <a:xfrm>
            <a:off x="5461000" y="3619500"/>
            <a:ext cx="571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D3EE"/>
                </a:solidFill>
                <a:latin typeface="Noto Sans SC"/>
                <a:ea typeface="Noto Sans SC"/>
                <a:cs typeface="Noto Sans SC"/>
                <a:sym typeface="Noto Sans SC"/>
              </a:rPr>
              <a:t>“Compiled” Knowledge Accumulation</a:t>
            </a:r>
            <a:endParaRPr lang="en-US" sz="1100"/>
          </a:p>
          <a:p>
            <a:pPr marL="0" indent="0" algn="l">
              <a:lnSpc>
                <a:spcPct val="108333"/>
              </a:lnSpc>
              <a:spcBef>
                <a:spcPts val="800"/>
              </a:spcBef>
            </a:pPr>
            <a:r>
              <a:rPr lang="en-US" sz="1300" b="0" i="0" u="none" strike="noStrike">
                <a:solidFill>
                  <a:srgbClr val="E5E7EB"/>
                </a:solidFill>
                <a:latin typeface="Noto Sans SC"/>
                <a:ea typeface="Noto Sans SC"/>
                <a:cs typeface="Noto Sans SC"/>
                <a:sym typeface="Noto Sans SC"/>
              </a:rPr>
              <a:t>True knowledge management should complete </a:t>
            </a:r>
            <a:r>
              <a:rPr lang="en-US" sz="1300" b="1" i="0" u="none" strike="noStrike">
                <a:solidFill>
                  <a:srgbClr val="FBBF24"/>
                </a:solidFill>
                <a:latin typeface="Noto Sans SC"/>
                <a:ea typeface="Noto Sans SC"/>
                <a:cs typeface="Noto Sans SC"/>
                <a:sym typeface="Noto Sans SC"/>
              </a:rPr>
              <a:t>at the moment of information intake</a:t>
            </a:r>
            <a:r>
              <a:rPr lang="en-US" sz="1300" b="0" i="0" u="none" strike="noStrike">
                <a:solidFill>
                  <a:srgbClr val="E5E7EB"/>
                </a:solidFill>
                <a:latin typeface="Noto Sans SC"/>
                <a:ea typeface="Noto Sans SC"/>
                <a:cs typeface="Noto Sans SC"/>
                <a:sym typeface="Noto Sans SC"/>
              </a:rPr>
              <a:t> — let AI proactively write summaries, establish connections, and continuously update, achieving “organize once, grow richer and smarter with every use.”</a:t>
            </a:r>
          </a:p>
        </p:txBody>
      </p:sp>
      <p:sp>
        <p:nvSpPr>
          <p:cNvPr id="13" name="AutoShape 13"/>
          <p:cNvSpPr/>
          <p:nvPr/>
        </p:nvSpPr>
        <p:spPr>
          <a:xfrm>
            <a:off x="4318000" y="5080000"/>
            <a:ext cx="7112000" cy="1397000"/>
          </a:xfrm>
          <a:prstGeom prst="roundRect">
            <a:avLst>
              <a:gd name="adj" fmla="val 7272"/>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5397500"/>
            <a:ext cx="609600" cy="609600"/>
          </a:xfrm>
          <a:prstGeom prst="rect">
            <a:avLst/>
          </a:prstGeom>
        </p:spPr>
      </p:pic>
      <p:sp>
        <p:nvSpPr>
          <p:cNvPr id="15" name="AutoShape 15"/>
          <p:cNvSpPr/>
          <p:nvPr/>
        </p:nvSpPr>
        <p:spPr>
          <a:xfrm>
            <a:off x="5461000" y="5270500"/>
            <a:ext cx="571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D3EE"/>
                </a:solidFill>
                <a:latin typeface="Noto Sans SC"/>
                <a:ea typeface="Noto Sans SC"/>
                <a:cs typeface="Noto Sans SC"/>
                <a:sym typeface="Noto Sans SC"/>
              </a:rPr>
              <a:t>The Agent’s New Role: Knowledge Base Administrator</a:t>
            </a:r>
            <a:endParaRPr lang="en-US" sz="1100"/>
          </a:p>
          <a:p>
            <a:pPr marL="0" indent="0" algn="l">
              <a:lnSpc>
                <a:spcPct val="108333"/>
              </a:lnSpc>
              <a:spcBef>
                <a:spcPts val="800"/>
              </a:spcBef>
            </a:pPr>
            <a:r>
              <a:rPr lang="en-US" sz="1300" b="0" i="0" u="none" strike="noStrike">
                <a:solidFill>
                  <a:srgbClr val="E5E7EB"/>
                </a:solidFill>
                <a:latin typeface="Noto Sans SC"/>
                <a:ea typeface="Noto Sans SC"/>
                <a:cs typeface="Noto Sans SC"/>
                <a:sym typeface="Noto Sans SC"/>
              </a:rPr>
              <a:t>AI should not merely be a chat companion — it should handle the four core actions of knowledge: </a:t>
            </a:r>
            <a:r>
              <a:rPr lang="en-US" sz="1300" b="1" i="0" u="none" strike="noStrike">
                <a:solidFill>
                  <a:srgbClr val="E5E7EB"/>
                </a:solidFill>
                <a:latin typeface="Noto Sans SC"/>
                <a:ea typeface="Noto Sans SC"/>
                <a:cs typeface="Noto Sans SC"/>
                <a:sym typeface="Noto Sans SC"/>
              </a:rPr>
              <a:t>Ingest · Query · Synthesize · Lint</a:t>
            </a:r>
            <a:r>
              <a:rPr lang="en-US" sz="1300" b="0" i="0" u="none" strike="noStrike">
                <a:solidFill>
                  <a:srgbClr val="E5E7EB"/>
                </a:solidFill>
                <a:latin typeface="Noto Sans SC"/>
                <a:ea typeface="Noto Sans SC"/>
                <a:cs typeface="Noto Sans SC"/>
                <a:sym typeface="Noto Sans SC"/>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778000"/>
            <a:ext cx="2286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9600" b="1" i="0" u="none" strike="noStrike">
                <a:solidFill>
                  <a:srgbClr val="22D3EE"/>
                </a:solidFill>
                <a:latin typeface="Noto Sans SC"/>
                <a:ea typeface="Noto Sans SC"/>
                <a:cs typeface="Noto Sans SC"/>
                <a:sym typeface="Noto Sans SC"/>
              </a:rPr>
              <a:t>02</a:t>
            </a:r>
            <a:endParaRPr lang="en-US" sz="1100"/>
          </a:p>
        </p:txBody>
      </p:sp>
      <p:sp>
        <p:nvSpPr>
          <p:cNvPr id="4" name="AutoShape 4"/>
          <p:cNvSpPr/>
          <p:nvPr/>
        </p:nvSpPr>
        <p:spPr>
          <a:xfrm>
            <a:off x="762000" y="3683000"/>
            <a:ext cx="1066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5600" b="1" i="0" u="none" strike="noStrike">
                <a:solidFill>
                  <a:srgbClr val="FFFFFF"/>
                </a:solidFill>
                <a:latin typeface="Noto Sans SC"/>
                <a:ea typeface="Noto Sans SC"/>
                <a:cs typeface="Noto Sans SC"/>
                <a:sym typeface="Noto Sans SC"/>
              </a:rPr>
              <a:t>Ding’s Solution</a:t>
            </a:r>
            <a:endParaRPr lang="en-US" sz="1100"/>
          </a:p>
        </p:txBody>
      </p:sp>
      <p:sp>
        <p:nvSpPr>
          <p:cNvPr id="5" name="AutoShape 5"/>
          <p:cNvSpPr/>
          <p:nvPr/>
        </p:nvSpPr>
        <p:spPr>
          <a:xfrm>
            <a:off x="762000" y="5080000"/>
            <a:ext cx="1016000" cy="76200"/>
          </a:xfrm>
          <a:prstGeom prst="roundRect">
            <a:avLst>
              <a:gd name="adj" fmla="val 0"/>
            </a:avLst>
          </a:prstGeom>
          <a:solidFill>
            <a:srgbClr val="22D3E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546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0" i="0" u="none" strike="noStrike">
                <a:solidFill>
                  <a:srgbClr val="D1D5DB"/>
                </a:solidFill>
                <a:latin typeface="Noto Sans SC"/>
                <a:ea typeface="Noto Sans SC"/>
                <a:cs typeface="Noto Sans SC"/>
                <a:sym typeface="Noto Sans SC"/>
              </a:rPr>
              <a:t>Re-architecting Enterprise Knowledge Flow</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What is Ding? — The Platform Bringing Karpathy’s Vision to Life</a:t>
            </a:r>
            <a:endParaRPr lang="en-US" sz="1100"/>
          </a:p>
        </p:txBody>
      </p:sp>
      <p:sp>
        <p:nvSpPr>
          <p:cNvPr id="4" name="AutoShape 4"/>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E5E7EB">
                    <a:alpha val="90196"/>
                  </a:srgbClr>
                </a:solidFill>
                <a:latin typeface="Noto Sans SC"/>
                <a:ea typeface="Noto Sans SC"/>
                <a:cs typeface="Noto Sans SC"/>
                <a:sym typeface="Noto Sans SC"/>
              </a:rPr>
              <a:t>Ding is not just a tool — it is a complete knowledge evolution platform, designed to turn Karpathy’s LLM-Wiki theory into deployable enterprise productivity, providing organizations in the AI era with a solid knowledge foundation.</a:t>
            </a:r>
            <a:endParaRPr lang="en-US" sz="1100"/>
          </a:p>
        </p:txBody>
      </p:sp>
      <p:sp>
        <p:nvSpPr>
          <p:cNvPr id="5" name="AutoShape 5"/>
          <p:cNvSpPr/>
          <p:nvPr/>
        </p:nvSpPr>
        <p:spPr>
          <a:xfrm>
            <a:off x="762000" y="2667000"/>
            <a:ext cx="5207000" cy="1905000"/>
          </a:xfrm>
          <a:prstGeom prst="roundRect">
            <a:avLst>
              <a:gd name="adj" fmla="val 5333"/>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048000"/>
            <a:ext cx="762000" cy="762000"/>
          </a:xfrm>
          <a:prstGeom prst="rect">
            <a:avLst/>
          </a:prstGeom>
        </p:spPr>
      </p:pic>
      <p:sp>
        <p:nvSpPr>
          <p:cNvPr id="7" name="AutoShape 7"/>
          <p:cNvSpPr/>
          <p:nvPr/>
        </p:nvSpPr>
        <p:spPr>
          <a:xfrm>
            <a:off x="2032000" y="2921000"/>
            <a:ext cx="368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D3EE"/>
                </a:solidFill>
                <a:latin typeface="Noto Sans SC"/>
                <a:ea typeface="Noto Sans SC"/>
                <a:cs typeface="Noto Sans SC"/>
                <a:sym typeface="Noto Sans SC"/>
              </a:rPr>
              <a:t>“Ding”: Knowledge Foundation</a:t>
            </a:r>
            <a:endParaRPr lang="en-US" sz="1100"/>
          </a:p>
          <a:p>
            <a:pPr marL="0" indent="0" algn="l">
              <a:lnSpc>
                <a:spcPct val="108333"/>
              </a:lnSpc>
              <a:spcBef>
                <a:spcPts val="1000"/>
              </a:spcBef>
            </a:pPr>
            <a:r>
              <a:rPr lang="en-US" sz="1300" b="0" i="0" u="none" strike="noStrike">
                <a:solidFill>
                  <a:srgbClr val="E5E7EB"/>
                </a:solidFill>
                <a:latin typeface="Noto Sans SC"/>
                <a:ea typeface="Noto Sans SC"/>
                <a:cs typeface="Noto Sans SC"/>
                <a:sym typeface="Noto Sans SC"/>
              </a:rPr>
              <a:t>Represents the </a:t>
            </a:r>
            <a:r>
              <a:rPr lang="en-US" sz="1300" b="1" i="0" u="none" strike="noStrike">
                <a:solidFill>
                  <a:srgbClr val="FFFFFF"/>
                </a:solidFill>
                <a:latin typeface="Noto Sans SC"/>
                <a:ea typeface="Noto Sans SC"/>
                <a:cs typeface="Noto Sans SC"/>
                <a:sym typeface="Noto Sans SC"/>
              </a:rPr>
              <a:t>accurate, trustworthy knowledge</a:t>
            </a:r>
            <a:r>
              <a:rPr lang="en-US" sz="1300" b="0" i="0" u="none" strike="noStrike">
                <a:solidFill>
                  <a:srgbClr val="E5E7EB"/>
                </a:solidFill>
                <a:latin typeface="Noto Sans SC"/>
                <a:ea typeface="Noto Sans SC"/>
                <a:cs typeface="Noto Sans SC"/>
                <a:sym typeface="Noto Sans SC"/>
              </a:rPr>
              <a:t> provided to AI agents. It is the origin of all intelligent decisions, ensuring that AI-generated conclusions are factual, evidence-based, and free from “hallucination.”</a:t>
            </a:r>
          </a:p>
        </p:txBody>
      </p:sp>
      <p:sp>
        <p:nvSpPr>
          <p:cNvPr id="8" name="AutoShape 8"/>
          <p:cNvSpPr/>
          <p:nvPr/>
        </p:nvSpPr>
        <p:spPr>
          <a:xfrm>
            <a:off x="6223000" y="2667000"/>
            <a:ext cx="5207000" cy="1905000"/>
          </a:xfrm>
          <a:prstGeom prst="roundRect">
            <a:avLst>
              <a:gd name="adj" fmla="val 5333"/>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3048000"/>
            <a:ext cx="762000" cy="762000"/>
          </a:xfrm>
          <a:prstGeom prst="rect">
            <a:avLst/>
          </a:prstGeom>
        </p:spPr>
      </p:pic>
      <p:sp>
        <p:nvSpPr>
          <p:cNvPr id="10" name="AutoShape 10"/>
          <p:cNvSpPr/>
          <p:nvPr/>
        </p:nvSpPr>
        <p:spPr>
          <a:xfrm>
            <a:off x="7493000" y="2921000"/>
            <a:ext cx="368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ACC15"/>
                </a:solidFill>
                <a:latin typeface="Noto Sans SC"/>
                <a:ea typeface="Noto Sans SC"/>
                <a:cs typeface="Noto Sans SC"/>
                <a:sym typeface="Noto Sans SC"/>
              </a:rPr>
              <a:t>“Ding!”: The Spark of Innovation</a:t>
            </a:r>
            <a:endParaRPr lang="en-US" sz="1100"/>
          </a:p>
          <a:p>
            <a:pPr marL="0" indent="0" algn="l">
              <a:lnSpc>
                <a:spcPct val="108333"/>
              </a:lnSpc>
              <a:spcBef>
                <a:spcPts val="1000"/>
              </a:spcBef>
            </a:pPr>
            <a:r>
              <a:rPr lang="en-US" sz="1300" b="0" i="0" u="none" strike="noStrike">
                <a:solidFill>
                  <a:srgbClr val="E5E7EB"/>
                </a:solidFill>
                <a:latin typeface="Noto Sans SC"/>
                <a:ea typeface="Noto Sans SC"/>
                <a:cs typeface="Noto Sans SC"/>
                <a:sym typeface="Noto Sans SC"/>
              </a:rPr>
              <a:t>Represents the insight and innovation that emerge when vast knowledge undergoes </a:t>
            </a:r>
            <a:r>
              <a:rPr lang="en-US" sz="1300" b="1" i="0" u="none" strike="noStrike">
                <a:solidFill>
                  <a:srgbClr val="FFFFFF"/>
                </a:solidFill>
                <a:latin typeface="Noto Sans SC"/>
                <a:ea typeface="Noto Sans SC"/>
                <a:cs typeface="Noto Sans SC"/>
                <a:sym typeface="Noto Sans SC"/>
              </a:rPr>
              <a:t>accumulation, integration, and collision</a:t>
            </a:r>
            <a:r>
              <a:rPr lang="en-US" sz="1300" b="0" i="0" u="none" strike="noStrike">
                <a:solidFill>
                  <a:srgbClr val="E5E7EB"/>
                </a:solidFill>
                <a:latin typeface="Noto Sans SC"/>
                <a:ea typeface="Noto Sans SC"/>
                <a:cs typeface="Noto Sans SC"/>
                <a:sym typeface="Noto Sans SC"/>
              </a:rPr>
              <a:t> — transforming knowledge from static storage into dynamic creation and unlocking organizational intelligence potential.</a:t>
            </a:r>
          </a:p>
        </p:txBody>
      </p:sp>
      <p:sp>
        <p:nvSpPr>
          <p:cNvPr id="11" name="AutoShape 11"/>
          <p:cNvSpPr/>
          <p:nvPr/>
        </p:nvSpPr>
        <p:spPr>
          <a:xfrm>
            <a:off x="762000" y="4953000"/>
            <a:ext cx="10668000" cy="1397000"/>
          </a:xfrm>
          <a:prstGeom prst="roundRect">
            <a:avLst>
              <a:gd name="adj" fmla="val 7272"/>
            </a:avLst>
          </a:prstGeom>
          <a:solidFill>
            <a:srgbClr val="0F172A">
              <a:alpha val="95000"/>
            </a:srgbClr>
          </a:solidFill>
          <a:ln w="25400" cap="flat" cmpd="sng">
            <a:solidFill>
              <a:srgbClr val="22D3E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3000" y="5334000"/>
            <a:ext cx="635000" cy="635000"/>
          </a:xfrm>
          <a:prstGeom prst="rect">
            <a:avLst/>
          </a:prstGeom>
        </p:spPr>
      </p:pic>
      <p:sp>
        <p:nvSpPr>
          <p:cNvPr id="13" name="AutoShape 13"/>
          <p:cNvSpPr/>
          <p:nvPr/>
        </p:nvSpPr>
        <p:spPr>
          <a:xfrm>
            <a:off x="2159000" y="5143500"/>
            <a:ext cx="889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D1D5DB"/>
                </a:solidFill>
                <a:latin typeface="Noto Sans SC"/>
                <a:ea typeface="Noto Sans SC"/>
                <a:cs typeface="Noto Sans SC"/>
                <a:sym typeface="Noto Sans SC"/>
              </a:rPr>
              <a:t>Ding’s Core Mission</a:t>
            </a:r>
            <a:endParaRPr lang="en-US" sz="1100"/>
          </a:p>
          <a:p>
            <a:pPr marL="0" indent="0" algn="l">
              <a:lnSpc>
                <a:spcPct val="125000"/>
              </a:lnSpc>
              <a:spcBef>
                <a:spcPts val="800"/>
              </a:spcBef>
            </a:pPr>
            <a:r>
              <a:rPr lang="en-US" sz="1800" b="0" i="0" u="none" strike="noStrike">
                <a:solidFill>
                  <a:srgbClr val="FFFFFF"/>
                </a:solidFill>
                <a:latin typeface="Noto Sans SC"/>
                <a:ea typeface="Noto Sans SC"/>
                <a:cs typeface="Noto Sans SC"/>
                <a:sym typeface="Noto Sans SC"/>
              </a:rPr>
              <a:t>Drive enterprise knowledge assets through a three-stage evolution — from </a:t>
            </a:r>
            <a:r>
              <a:rPr lang="en-US" sz="2000" b="1" i="0" u="none" strike="noStrike">
                <a:solidFill>
                  <a:srgbClr val="F87171"/>
                </a:solidFill>
                <a:latin typeface="Noto Sans SC"/>
                <a:ea typeface="Noto Sans SC"/>
                <a:cs typeface="Noto Sans SC"/>
                <a:sym typeface="Noto Sans SC"/>
              </a:rPr>
              <a:t>“Data Library”</a:t>
            </a:r>
            <a:r>
              <a:rPr lang="en-US" sz="1800" b="0" i="0" u="none" strike="noStrike">
                <a:solidFill>
                  <a:srgbClr val="FFFFFF"/>
                </a:solidFill>
                <a:latin typeface="Noto Sans SC"/>
                <a:ea typeface="Noto Sans SC"/>
                <a:cs typeface="Noto Sans SC"/>
                <a:sym typeface="Noto Sans SC"/>
              </a:rPr>
              <a:t> to </a:t>
            </a:r>
            <a:r>
              <a:rPr lang="en-US" sz="2000" b="1" i="0" u="none" strike="noStrike">
                <a:solidFill>
                  <a:srgbClr val="FACC15"/>
                </a:solidFill>
                <a:latin typeface="Noto Sans SC"/>
                <a:ea typeface="Noto Sans SC"/>
                <a:cs typeface="Noto Sans SC"/>
                <a:sym typeface="Noto Sans SC"/>
              </a:rPr>
              <a:t>“Knowledge Base”</a:t>
            </a:r>
            <a:r>
              <a:rPr lang="en-US" sz="1800" b="0" i="0" u="none" strike="noStrike">
                <a:solidFill>
                  <a:srgbClr val="FFFFFF"/>
                </a:solidFill>
                <a:latin typeface="Noto Sans SC"/>
                <a:ea typeface="Noto Sans SC"/>
                <a:cs typeface="Noto Sans SC"/>
                <a:sym typeface="Noto Sans SC"/>
              </a:rPr>
              <a:t>, and ultimately to </a:t>
            </a:r>
            <a:r>
              <a:rPr lang="en-US" sz="2000" b="1" i="0" u="none" strike="noStrike">
                <a:solidFill>
                  <a:srgbClr val="22D3EE"/>
                </a:solidFill>
                <a:latin typeface="Noto Sans SC"/>
                <a:ea typeface="Noto Sans SC"/>
                <a:cs typeface="Noto Sans SC"/>
                <a:sym typeface="Noto Sans SC"/>
              </a:rPr>
              <a:t>“Decision Hub”</a:t>
            </a:r>
            <a:r>
              <a:rPr lang="en-US" sz="1800" b="0" i="0" u="none" strike="noStrike">
                <a:solidFill>
                  <a:srgbClr val="FFFFFF"/>
                </a:solidFill>
                <a:latin typeface="Noto Sans SC"/>
                <a:ea typeface="Noto Sans SC"/>
                <a:cs typeface="Noto Sans SC"/>
                <a:sym typeface="Noto Sans SC"/>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The Three-Stage Evolution: From Static Storage to Dynamic Intelligence</a:t>
            </a:r>
            <a:endParaRPr lang="en-US" sz="1100"/>
          </a:p>
        </p:txBody>
      </p:sp>
      <p:sp>
        <p:nvSpPr>
          <p:cNvPr id="4" name="AutoShape 4"/>
          <p:cNvSpPr/>
          <p:nvPr/>
        </p:nvSpPr>
        <p:spPr>
          <a:xfrm>
            <a:off x="762000" y="1651000"/>
            <a:ext cx="3302000" cy="4064000"/>
          </a:xfrm>
          <a:prstGeom prst="roundRect">
            <a:avLst>
              <a:gd name="adj" fmla="val 0"/>
            </a:avLst>
          </a:prstGeom>
          <a:solidFill>
            <a:srgbClr val="1E293B">
              <a:alpha val="90000"/>
            </a:srgbClr>
          </a:solidFill>
          <a:ln w="25400" cap="flat" cmpd="sng">
            <a:solidFill>
              <a:srgbClr val="22D3EE">
                <a:alpha val="5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355600" cy="355600"/>
          </a:xfrm>
          <a:prstGeom prst="rect">
            <a:avLst/>
          </a:prstGeom>
        </p:spPr>
      </p:pic>
      <p:sp>
        <p:nvSpPr>
          <p:cNvPr id="6" name="AutoShape 6"/>
          <p:cNvSpPr/>
          <p:nvPr/>
        </p:nvSpPr>
        <p:spPr>
          <a:xfrm>
            <a:off x="1524000" y="18796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Data Library</a:t>
            </a:r>
            <a:r>
              <a:rPr lang="en-US" sz="1600" b="0" i="0" u="none" strike="noStrike">
                <a:solidFill>
                  <a:srgbClr val="94A3B8"/>
                </a:solidFill>
                <a:latin typeface="Noto Sans SC"/>
                <a:ea typeface="Noto Sans SC"/>
                <a:cs typeface="Noto Sans SC"/>
                <a:sym typeface="Noto Sans SC"/>
              </a:rPr>
              <a:t>Data Library</a:t>
            </a:r>
            <a:endParaRPr lang="en-US" sz="1100"/>
          </a:p>
        </p:txBody>
      </p:sp>
      <p:sp>
        <p:nvSpPr>
          <p:cNvPr id="7" name="AutoShape 7"/>
          <p:cNvSpPr/>
          <p:nvPr/>
        </p:nvSpPr>
        <p:spPr>
          <a:xfrm>
            <a:off x="952500" y="2667000"/>
            <a:ext cx="2921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22D3EE"/>
                </a:solidFill>
                <a:latin typeface="Noto Sans SC"/>
                <a:ea typeface="Noto Sans SC"/>
                <a:cs typeface="Noto Sans SC"/>
                <a:sym typeface="Noto Sans SC"/>
              </a:rPr>
              <a:t>▍ Core Essence</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E2E8F0"/>
                </a:solidFill>
                <a:latin typeface="Noto Sans SC"/>
                <a:ea typeface="Noto Sans SC"/>
                <a:cs typeface="Noto Sans SC"/>
                <a:sym typeface="Noto Sans SC"/>
              </a:rPr>
              <a:t>Organize files to be “well-stored and easily found” — building an orderly digital asset library.</a:t>
            </a:r>
            <a:endParaRPr lang="en-US" sz="1100"/>
          </a:p>
          <a:p>
            <a:pPr marL="0" indent="0" algn="l">
              <a:lnSpc>
                <a:spcPct val="116666"/>
              </a:lnSpc>
              <a:spcBef>
                <a:spcPts val="1200"/>
              </a:spcBef>
            </a:pPr>
            <a:r>
              <a:rPr lang="en-US" sz="1400" b="1" i="0" u="none" strike="noStrike">
                <a:solidFill>
                  <a:srgbClr val="F87171"/>
                </a:solidFill>
                <a:latin typeface="Noto Sans SC"/>
                <a:ea typeface="Noto Sans SC"/>
                <a:cs typeface="Noto Sans SC"/>
                <a:sym typeface="Noto Sans SC"/>
              </a:rPr>
              <a:t>▍ Typical Pain Points</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CBD5E1"/>
                </a:solidFill>
                <a:latin typeface="Noto Sans SC"/>
                <a:ea typeface="Noto Sans SC"/>
                <a:cs typeface="Noto Sans SC"/>
                <a:sym typeface="Noto Sans SC"/>
              </a:rPr>
              <a:t>Files scattered across computers and cloud drives, versions in chaos, and retrieval efficiency extremely low.</a:t>
            </a:r>
          </a:p>
          <a:p>
            <a:pPr marL="0" indent="0" algn="l">
              <a:lnSpc>
                <a:spcPct val="116666"/>
              </a:lnSpc>
              <a:spcBef>
                <a:spcPts val="1200"/>
              </a:spcBef>
            </a:pPr>
            <a:r>
              <a:rPr lang="en-US" sz="1400" b="1" i="0" u="none" strike="noStrike">
                <a:solidFill>
                  <a:srgbClr val="34D399"/>
                </a:solidFill>
                <a:latin typeface="Noto Sans SC"/>
                <a:ea typeface="Noto Sans SC"/>
                <a:cs typeface="Noto Sans SC"/>
                <a:sym typeface="Noto Sans SC"/>
              </a:rPr>
              <a:t>▍ Core Capability: One-Stop Ingestion</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E2E8F0"/>
                </a:solidFill>
                <a:latin typeface="Noto Sans SC"/>
                <a:ea typeface="Noto Sans SC"/>
                <a:cs typeface="Noto Sans SC"/>
                <a:sym typeface="Noto Sans SC"/>
              </a:rPr>
              <a:t>Supports one-click multi-format upload and online preview, with structured directory indexing to keep massive storage organized.</a:t>
            </a:r>
          </a:p>
        </p:txBody>
      </p:sp>
      <p:sp>
        <p:nvSpPr>
          <p:cNvPr id="8" name="AutoShape 8"/>
          <p:cNvSpPr/>
          <p:nvPr/>
        </p:nvSpPr>
        <p:spPr>
          <a:xfrm>
            <a:off x="4445000" y="1651000"/>
            <a:ext cx="3302000" cy="4064000"/>
          </a:xfrm>
          <a:prstGeom prst="roundRect">
            <a:avLst>
              <a:gd name="adj" fmla="val 0"/>
            </a:avLst>
          </a:prstGeom>
          <a:solidFill>
            <a:srgbClr val="1E293B">
              <a:alpha val="90000"/>
            </a:srgbClr>
          </a:solidFill>
          <a:ln w="25400" cap="flat" cmpd="sng">
            <a:solidFill>
              <a:srgbClr val="22D3EE">
                <a:alpha val="5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905000"/>
            <a:ext cx="355600" cy="355600"/>
          </a:xfrm>
          <a:prstGeom prst="rect">
            <a:avLst/>
          </a:prstGeom>
        </p:spPr>
      </p:pic>
      <p:sp>
        <p:nvSpPr>
          <p:cNvPr id="10" name="AutoShape 10"/>
          <p:cNvSpPr/>
          <p:nvPr/>
        </p:nvSpPr>
        <p:spPr>
          <a:xfrm>
            <a:off x="5207000" y="18796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Knowledge Base</a:t>
            </a:r>
            <a:r>
              <a:rPr lang="en-US" sz="1600" b="0" i="0" u="none" strike="noStrike">
                <a:solidFill>
                  <a:srgbClr val="94A3B8"/>
                </a:solidFill>
                <a:latin typeface="Noto Sans SC"/>
                <a:ea typeface="Noto Sans SC"/>
                <a:cs typeface="Noto Sans SC"/>
                <a:sym typeface="Noto Sans SC"/>
              </a:rPr>
              <a:t>Knowledge Base</a:t>
            </a:r>
            <a:endParaRPr lang="en-US" sz="1100"/>
          </a:p>
        </p:txBody>
      </p:sp>
      <p:sp>
        <p:nvSpPr>
          <p:cNvPr id="11" name="AutoShape 11"/>
          <p:cNvSpPr/>
          <p:nvPr/>
        </p:nvSpPr>
        <p:spPr>
          <a:xfrm>
            <a:off x="4635500" y="2667000"/>
            <a:ext cx="2921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22D3EE"/>
                </a:solidFill>
                <a:latin typeface="Noto Sans SC"/>
                <a:ea typeface="Noto Sans SC"/>
                <a:cs typeface="Noto Sans SC"/>
                <a:sym typeface="Noto Sans SC"/>
              </a:rPr>
              <a:t>▍ Core Essence</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E2E8F0"/>
                </a:solidFill>
                <a:latin typeface="Noto Sans SC"/>
                <a:ea typeface="Noto Sans SC"/>
                <a:cs typeface="Noto Sans SC"/>
                <a:sym typeface="Noto Sans SC"/>
              </a:rPr>
              <a:t>Enable data to “understand content, form associations, and be searchable” — activating dormant information value.</a:t>
            </a:r>
            <a:endParaRPr lang="en-US" sz="1100"/>
          </a:p>
          <a:p>
            <a:pPr marL="0" indent="0" algn="l">
              <a:lnSpc>
                <a:spcPct val="116666"/>
              </a:lnSpc>
              <a:spcBef>
                <a:spcPts val="1200"/>
              </a:spcBef>
            </a:pPr>
            <a:r>
              <a:rPr lang="en-US" sz="1400" b="1" i="0" u="none" strike="noStrike">
                <a:solidFill>
                  <a:srgbClr val="F87171"/>
                </a:solidFill>
                <a:latin typeface="Noto Sans SC"/>
                <a:ea typeface="Noto Sans SC"/>
                <a:cs typeface="Noto Sans SC"/>
                <a:sym typeface="Noto Sans SC"/>
              </a:rPr>
              <a:t>▍ Typical Pain Points</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CBD5E1"/>
                </a:solidFill>
                <a:latin typeface="Noto Sans SC"/>
                <a:ea typeface="Noto Sans SC"/>
                <a:cs typeface="Noto Sans SC"/>
                <a:sym typeface="Noto Sans SC"/>
              </a:rPr>
              <a:t>Facing massive volumes of PDFs and documents, unable to quickly extract key information or find related materials.</a:t>
            </a:r>
          </a:p>
          <a:p>
            <a:pPr marL="0" indent="0" algn="l">
              <a:lnSpc>
                <a:spcPct val="116666"/>
              </a:lnSpc>
              <a:spcBef>
                <a:spcPts val="1200"/>
              </a:spcBef>
            </a:pPr>
            <a:r>
              <a:rPr lang="en-US" sz="1400" b="1" i="0" u="none" strike="noStrike">
                <a:solidFill>
                  <a:srgbClr val="34D399"/>
                </a:solidFill>
                <a:latin typeface="Noto Sans SC"/>
                <a:ea typeface="Noto Sans SC"/>
                <a:cs typeface="Noto Sans SC"/>
                <a:sym typeface="Noto Sans SC"/>
              </a:rPr>
              <a:t>▍ Core Capability: Intelligent Semantic Search</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E2E8F0"/>
                </a:solidFill>
                <a:latin typeface="Noto Sans SC"/>
                <a:ea typeface="Noto Sans SC"/>
                <a:cs typeface="Noto Sans SC"/>
                <a:sym typeface="Noto Sans SC"/>
              </a:rPr>
              <a:t>Automatically extracts text to generate notes, precisely locates content via semantic understanding, and auto-generates knowledge tags and relationship graphs.</a:t>
            </a:r>
          </a:p>
        </p:txBody>
      </p:sp>
      <p:sp>
        <p:nvSpPr>
          <p:cNvPr id="12" name="AutoShape 12"/>
          <p:cNvSpPr/>
          <p:nvPr/>
        </p:nvSpPr>
        <p:spPr>
          <a:xfrm>
            <a:off x="8128000" y="1651000"/>
            <a:ext cx="3302000" cy="4064000"/>
          </a:xfrm>
          <a:prstGeom prst="roundRect">
            <a:avLst>
              <a:gd name="adj" fmla="val 0"/>
            </a:avLst>
          </a:prstGeom>
          <a:solidFill>
            <a:srgbClr val="1E293B">
              <a:alpha val="90000"/>
            </a:srgbClr>
          </a:solidFill>
          <a:ln w="25400" cap="flat" cmpd="sng">
            <a:solidFill>
              <a:srgbClr val="22D3EE">
                <a:alpha val="5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355600" cy="355600"/>
          </a:xfrm>
          <a:prstGeom prst="rect">
            <a:avLst/>
          </a:prstGeom>
        </p:spPr>
      </p:pic>
      <p:sp>
        <p:nvSpPr>
          <p:cNvPr id="14" name="AutoShape 14"/>
          <p:cNvSpPr/>
          <p:nvPr/>
        </p:nvSpPr>
        <p:spPr>
          <a:xfrm>
            <a:off x="8890000" y="18796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Decision Hub</a:t>
            </a:r>
            <a:r>
              <a:rPr lang="en-US" sz="1600" b="0" i="0" u="none" strike="noStrike">
                <a:solidFill>
                  <a:srgbClr val="94A3B8"/>
                </a:solidFill>
                <a:latin typeface="Noto Sans SC"/>
                <a:ea typeface="Noto Sans SC"/>
                <a:cs typeface="Noto Sans SC"/>
                <a:sym typeface="Noto Sans SC"/>
              </a:rPr>
              <a:t>Decision Hub</a:t>
            </a:r>
            <a:endParaRPr lang="en-US" sz="1100"/>
          </a:p>
        </p:txBody>
      </p:sp>
      <p:sp>
        <p:nvSpPr>
          <p:cNvPr id="15" name="AutoShape 15"/>
          <p:cNvSpPr/>
          <p:nvPr/>
        </p:nvSpPr>
        <p:spPr>
          <a:xfrm>
            <a:off x="8318500" y="2667000"/>
            <a:ext cx="2921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22D3EE"/>
                </a:solidFill>
                <a:latin typeface="Noto Sans SC"/>
                <a:ea typeface="Noto Sans SC"/>
                <a:cs typeface="Noto Sans SC"/>
                <a:sym typeface="Noto Sans SC"/>
              </a:rPr>
              <a:t>▍ Core Essence</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E2E8F0"/>
                </a:solidFill>
                <a:latin typeface="Noto Sans SC"/>
                <a:ea typeface="Noto Sans SC"/>
                <a:cs typeface="Noto Sans SC"/>
                <a:sym typeface="Noto Sans SC"/>
              </a:rPr>
              <a:t>Make knowledge “support judgment, be verifiable, and be citable” — a trustworthy decision-making foundation.</a:t>
            </a:r>
            <a:endParaRPr lang="en-US" sz="1100"/>
          </a:p>
          <a:p>
            <a:pPr marL="0" indent="0" algn="l">
              <a:lnSpc>
                <a:spcPct val="116666"/>
              </a:lnSpc>
              <a:spcBef>
                <a:spcPts val="1200"/>
              </a:spcBef>
            </a:pPr>
            <a:r>
              <a:rPr lang="en-US" sz="1400" b="1" i="0" u="none" strike="noStrike">
                <a:solidFill>
                  <a:srgbClr val="F87171"/>
                </a:solidFill>
                <a:latin typeface="Noto Sans SC"/>
                <a:ea typeface="Noto Sans SC"/>
                <a:cs typeface="Noto Sans SC"/>
                <a:sym typeface="Noto Sans SC"/>
              </a:rPr>
              <a:t>▍ Typical Pain Points</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CBD5E1"/>
                </a:solidFill>
                <a:latin typeface="Noto Sans SC"/>
                <a:ea typeface="Noto Sans SC"/>
                <a:cs typeface="Noto Sans SC"/>
                <a:sym typeface="Noto Sans SC"/>
              </a:rPr>
              <a:t>Worrying that AI-generated answers may be “fabricated,” making them unreliable for critical business and strategic decisions.</a:t>
            </a:r>
          </a:p>
          <a:p>
            <a:pPr marL="0" indent="0" algn="l">
              <a:lnSpc>
                <a:spcPct val="116666"/>
              </a:lnSpc>
              <a:spcBef>
                <a:spcPts val="1200"/>
              </a:spcBef>
            </a:pPr>
            <a:r>
              <a:rPr lang="en-US" sz="1400" b="1" i="0" u="none" strike="noStrike">
                <a:solidFill>
                  <a:srgbClr val="34D399"/>
                </a:solidFill>
                <a:latin typeface="Noto Sans SC"/>
                <a:ea typeface="Noto Sans SC"/>
                <a:cs typeface="Noto Sans SC"/>
                <a:sym typeface="Noto Sans SC"/>
              </a:rPr>
              <a:t>▍ Core Capability: Trustworthy Answers with Citations</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E2E8F0"/>
                </a:solidFill>
                <a:latin typeface="Noto Sans SC"/>
                <a:ea typeface="Noto Sans SC"/>
                <a:cs typeface="Noto Sans SC"/>
                <a:sym typeface="Noto Sans SC"/>
              </a:rPr>
              <a:t>Adheres to “retrieve only, never fabricate” — every answer includes </a:t>
            </a:r>
            <a:r>
              <a:rPr lang="en-US" sz="1200" b="1" i="0" u="none" strike="noStrike">
                <a:solidFill>
                  <a:srgbClr val="22D3EE"/>
                </a:solidFill>
                <a:latin typeface="Noto Sans SC"/>
                <a:ea typeface="Noto Sans SC"/>
                <a:cs typeface="Noto Sans SC"/>
                <a:sym typeface="Noto Sans SC"/>
              </a:rPr>
              <a:t>“source filename + original excerpt”</a:t>
            </a:r>
            <a:r>
              <a:rPr lang="en-US" sz="1200" b="0" i="0" u="none" strike="noStrike">
                <a:solidFill>
                  <a:srgbClr val="E2E8F0"/>
                </a:solidFill>
                <a:latin typeface="Noto Sans SC"/>
                <a:ea typeface="Noto Sans SC"/>
                <a:cs typeface="Noto Sans SC"/>
                <a:sym typeface="Noto Sans SC"/>
              </a:rPr>
              <a:t> to ensure traceability and verifiability.</a:t>
            </a:r>
          </a:p>
        </p:txBody>
      </p:sp>
      <p:sp>
        <p:nvSpPr>
          <p:cNvPr id="16" name="AutoShape 16"/>
          <p:cNvSpPr/>
          <p:nvPr/>
        </p:nvSpPr>
        <p:spPr>
          <a:xfrm>
            <a:off x="0" y="5969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22D3EE"/>
                </a:solidFill>
                <a:latin typeface="Noto Sans SC"/>
                <a:ea typeface="Noto Sans SC"/>
                <a:cs typeface="Noto Sans SC"/>
                <a:sym typeface="Noto Sans SC"/>
              </a:rPr>
              <a:t>This is a revolution from “dead” data to “living” knowledge.</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Key Distinction: You Need “Task AI,” Not “Chat AI”</a:t>
            </a:r>
            <a:endParaRPr lang="en-US" sz="1100"/>
          </a:p>
        </p:txBody>
      </p:sp>
      <p:sp>
        <p:nvSpPr>
          <p:cNvPr id="4" name="AutoShape 4"/>
          <p:cNvSpPr/>
          <p:nvPr/>
        </p:nvSpPr>
        <p:spPr>
          <a:xfrm>
            <a:off x="762000" y="1651000"/>
            <a:ext cx="5207000" cy="3810000"/>
          </a:xfrm>
          <a:prstGeom prst="roundRect">
            <a:avLst>
              <a:gd name="adj" fmla="val 4000"/>
            </a:avLst>
          </a:prstGeom>
          <a:solidFill>
            <a:srgbClr val="1E293B">
              <a:alpha val="90000"/>
            </a:srgbClr>
          </a:solidFill>
          <a:ln w="12700" cap="flat" cmpd="sng">
            <a:solidFill>
              <a:srgbClr val="475569">
                <a:alpha val="10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l="13945" r="13945"/>
          <a:stretch>
            <a:fillRect/>
          </a:stretch>
        </p:blipFill>
        <p:spPr>
          <a:xfrm>
            <a:off x="1016000" y="1905000"/>
            <a:ext cx="1651000" cy="1524000"/>
          </a:xfrm>
          <a:prstGeom prst="roundRect">
            <a:avLst>
              <a:gd name="adj" fmla="val 6666"/>
            </a:avLst>
          </a:prstGeom>
          <a:noFill/>
          <a:ln w="25400" cap="flat" cmpd="sng">
            <a:noFill/>
            <a:prstDash val="solid"/>
            <a:round/>
          </a:ln>
        </p:spPr>
      </p:pic>
      <p:sp>
        <p:nvSpPr>
          <p:cNvPr id="6" name="AutoShape 6"/>
          <p:cNvSpPr/>
          <p:nvPr/>
        </p:nvSpPr>
        <p:spPr>
          <a:xfrm>
            <a:off x="2921000" y="1905000"/>
            <a:ext cx="2667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CBD5E1"/>
                </a:solidFill>
                <a:latin typeface="Noto Sans SC"/>
                <a:ea typeface="Noto Sans SC"/>
                <a:cs typeface="Noto Sans SC"/>
                <a:sym typeface="Noto Sans SC"/>
              </a:rPr>
              <a:t>A. Conventional Chat Tools (Chat)</a:t>
            </a:r>
            <a:endParaRPr lang="en-US" sz="1100"/>
          </a:p>
          <a:p>
            <a:pPr marL="0" indent="0" algn="l">
              <a:lnSpc>
                <a:spcPct val="116666"/>
              </a:lnSpc>
              <a:spcBef>
                <a:spcPts val="800"/>
              </a:spcBef>
            </a:pPr>
            <a:r>
              <a:rPr lang="en-US" sz="1200" b="1" i="0" u="none" strike="noStrike">
                <a:solidFill>
                  <a:srgbClr val="94A3B8"/>
                </a:solidFill>
                <a:latin typeface="Noto Sans SC"/>
                <a:ea typeface="Noto Sans SC"/>
                <a:cs typeface="Noto Sans SC"/>
                <a:sym typeface="Noto Sans SC"/>
              </a:rPr>
              <a:t>Examples: </a:t>
            </a:r>
            <a:r>
              <a:rPr lang="en-US" sz="1200" b="0" i="0" u="none" strike="noStrike">
                <a:solidFill>
                  <a:srgbClr val="94A3B8"/>
                </a:solidFill>
                <a:latin typeface="Noto Sans SC"/>
                <a:ea typeface="Noto Sans SC"/>
                <a:cs typeface="Noto Sans SC"/>
                <a:sym typeface="Noto Sans SC"/>
              </a:rPr>
              <a:t>Doubao, Yuanbao, ChatGPT, etc.</a:t>
            </a:r>
            <a:br>
              <a:rPr lang="en-US" sz="1600" b="0" i="0" u="none" strike="noStrike">
                <a:solidFill>
                  <a:srgbClr val="1F2329"/>
                </a:solidFill>
                <a:latin typeface="Noto Sans SC"/>
                <a:ea typeface="Noto Sans SC"/>
                <a:cs typeface="Noto Sans SC"/>
                <a:sym typeface="Noto Sans SC"/>
              </a:rPr>
            </a:br>
            <a:r>
              <a:rPr lang="en-US" sz="1200" b="1" i="0" u="none" strike="noStrike">
                <a:solidFill>
                  <a:srgbClr val="94A3B8"/>
                </a:solidFill>
                <a:latin typeface="Noto Sans SC"/>
                <a:ea typeface="Noto Sans SC"/>
                <a:cs typeface="Noto Sans SC"/>
                <a:sym typeface="Noto Sans SC"/>
              </a:rPr>
              <a:t>Role: </a:t>
            </a:r>
            <a:r>
              <a:rPr lang="en-US" sz="1200" b="0" i="0" u="none" strike="noStrike">
                <a:solidFill>
                  <a:srgbClr val="94A3B8"/>
                </a:solidFill>
                <a:latin typeface="Noto Sans SC"/>
                <a:ea typeface="Noto Sans SC"/>
                <a:cs typeface="Noto Sans SC"/>
                <a:sym typeface="Noto Sans SC"/>
              </a:rPr>
              <a:t>Like chatting with a consultant on WeChat — one question, one answer. Suitable for casual conversation and writing inspiration.</a:t>
            </a:r>
          </a:p>
        </p:txBody>
      </p:sp>
      <p:sp>
        <p:nvSpPr>
          <p:cNvPr id="7" name="AutoShape 7"/>
          <p:cNvSpPr/>
          <p:nvPr/>
        </p:nvSpPr>
        <p:spPr>
          <a:xfrm>
            <a:off x="1016000" y="3683000"/>
            <a:ext cx="4699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E2E8F0"/>
                </a:solidFill>
                <a:latin typeface="Noto Sans SC"/>
                <a:ea typeface="Noto Sans SC"/>
                <a:cs typeface="Noto Sans SC"/>
                <a:sym typeface="Noto Sans SC"/>
              </a:rPr>
              <a:t>Limitation: </a:t>
            </a:r>
            <a:r>
              <a:rPr lang="en-US" sz="1300" b="0" i="0" u="none" strike="noStrike">
                <a:solidFill>
                  <a:srgbClr val="E2E8F0"/>
                </a:solidFill>
                <a:latin typeface="Noto Sans SC"/>
                <a:ea typeface="Noto Sans SC"/>
                <a:cs typeface="Noto Sans SC"/>
                <a:sym typeface="Noto Sans SC"/>
              </a:rPr>
              <a:t>They are fundamentally </a:t>
            </a:r>
            <a:r>
              <a:rPr lang="en-US" sz="1300" b="1" i="0" u="none" strike="noStrike">
                <a:solidFill>
                  <a:srgbClr val="F87171"/>
                </a:solidFill>
                <a:latin typeface="Noto Sans SC"/>
                <a:ea typeface="Noto Sans SC"/>
                <a:cs typeface="Noto Sans SC"/>
                <a:sym typeface="Noto Sans SC"/>
              </a:rPr>
              <a:t>“chat products”</a:t>
            </a:r>
            <a:r>
              <a:rPr lang="en-US" sz="1300" b="0" i="0" u="none" strike="noStrike">
                <a:solidFill>
                  <a:srgbClr val="E2E8F0"/>
                </a:solidFill>
                <a:latin typeface="Noto Sans SC"/>
                <a:ea typeface="Noto Sans SC"/>
                <a:cs typeface="Noto Sans SC"/>
                <a:sym typeface="Noto Sans SC"/>
              </a:rPr>
              <a:t> — unable to install complex “skill packs” or achieve long-term, systematic enterprise knowledge operations and management.</a:t>
            </a:r>
            <a:endParaRPr lang="en-US" sz="1100"/>
          </a:p>
        </p:txBody>
      </p:sp>
      <p:sp>
        <p:nvSpPr>
          <p:cNvPr id="8" name="AutoShape 8"/>
          <p:cNvSpPr/>
          <p:nvPr/>
        </p:nvSpPr>
        <p:spPr>
          <a:xfrm>
            <a:off x="6223000" y="1651000"/>
            <a:ext cx="5207000" cy="3810000"/>
          </a:xfrm>
          <a:prstGeom prst="roundRect">
            <a:avLst>
              <a:gd name="adj" fmla="val 4000"/>
            </a:avLst>
          </a:prstGeom>
          <a:solidFill>
            <a:srgbClr val="1E293B">
              <a:alpha val="95000"/>
            </a:srgbClr>
          </a:solidFill>
          <a:ln w="25400" cap="flat" cmpd="sng">
            <a:solidFill>
              <a:srgbClr val="22D3EE">
                <a:alpha val="10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srcRect l="9375" r="9375"/>
          <a:stretch>
            <a:fillRect/>
          </a:stretch>
        </p:blipFill>
        <p:spPr>
          <a:xfrm>
            <a:off x="6477000" y="1905000"/>
            <a:ext cx="1651000" cy="1524000"/>
          </a:xfrm>
          <a:prstGeom prst="roundRect">
            <a:avLst>
              <a:gd name="adj" fmla="val 6666"/>
            </a:avLst>
          </a:prstGeom>
          <a:noFill/>
          <a:ln w="25400" cap="flat" cmpd="sng">
            <a:noFill/>
            <a:prstDash val="solid"/>
            <a:round/>
          </a:ln>
        </p:spPr>
      </p:pic>
      <p:sp>
        <p:nvSpPr>
          <p:cNvPr id="10" name="AutoShape 10"/>
          <p:cNvSpPr/>
          <p:nvPr/>
        </p:nvSpPr>
        <p:spPr>
          <a:xfrm>
            <a:off x="8382000" y="1905000"/>
            <a:ext cx="2667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22D3EE"/>
                </a:solidFill>
                <a:latin typeface="Noto Sans SC"/>
                <a:ea typeface="Noto Sans SC"/>
                <a:cs typeface="Noto Sans SC"/>
                <a:sym typeface="Noto Sans SC"/>
              </a:rPr>
              <a:t>B. AI Agents (Agent)</a:t>
            </a:r>
            <a:endParaRPr lang="en-US" sz="1100"/>
          </a:p>
          <a:p>
            <a:pPr marL="0" indent="0" algn="l">
              <a:lnSpc>
                <a:spcPct val="116666"/>
              </a:lnSpc>
              <a:spcBef>
                <a:spcPts val="800"/>
              </a:spcBef>
            </a:pPr>
            <a:r>
              <a:rPr lang="en-US" sz="1200" b="1" i="0" u="none" strike="noStrike">
                <a:solidFill>
                  <a:srgbClr val="CBD5E1"/>
                </a:solidFill>
                <a:latin typeface="Noto Sans SC"/>
                <a:ea typeface="Noto Sans SC"/>
                <a:cs typeface="Noto Sans SC"/>
                <a:sym typeface="Noto Sans SC"/>
              </a:rPr>
              <a:t>Examples: </a:t>
            </a:r>
            <a:r>
              <a:rPr lang="en-US" sz="1200" b="0" i="0" u="none" strike="noStrike">
                <a:solidFill>
                  <a:srgbClr val="CBD5E1"/>
                </a:solidFill>
                <a:latin typeface="Noto Sans SC"/>
                <a:ea typeface="Noto Sans SC"/>
                <a:cs typeface="Noto Sans SC"/>
                <a:sym typeface="Noto Sans SC"/>
              </a:rPr>
              <a:t>OpenClaw, Hermes, Claude Code, etc.</a:t>
            </a:r>
            <a:br>
              <a:rPr lang="en-US" sz="1600" b="0" i="0" u="none" strike="noStrike">
                <a:solidFill>
                  <a:srgbClr val="1F2329"/>
                </a:solidFill>
                <a:latin typeface="Noto Sans SC"/>
                <a:ea typeface="Noto Sans SC"/>
                <a:cs typeface="Noto Sans SC"/>
                <a:sym typeface="Noto Sans SC"/>
              </a:rPr>
            </a:br>
            <a:r>
              <a:rPr lang="en-US" sz="1200" b="1" i="0" u="none" strike="noStrike">
                <a:solidFill>
                  <a:srgbClr val="CBD5E1"/>
                </a:solidFill>
                <a:latin typeface="Noto Sans SC"/>
                <a:ea typeface="Noto Sans SC"/>
                <a:cs typeface="Noto Sans SC"/>
                <a:sym typeface="Noto Sans SC"/>
              </a:rPr>
              <a:t>Role: </a:t>
            </a:r>
            <a:r>
              <a:rPr lang="en-US" sz="1200" b="0" i="0" u="none" strike="noStrike">
                <a:solidFill>
                  <a:srgbClr val="CBD5E1"/>
                </a:solidFill>
                <a:latin typeface="Noto Sans SC"/>
                <a:ea typeface="Noto Sans SC"/>
                <a:cs typeface="Noto Sans SC"/>
                <a:sym typeface="Noto Sans SC"/>
              </a:rPr>
              <a:t>Like delegating tasks to a professional assistant — capable of executing multi-step tasks such as batch processing, API calls, and report generation.</a:t>
            </a:r>
          </a:p>
        </p:txBody>
      </p:sp>
      <p:sp>
        <p:nvSpPr>
          <p:cNvPr id="11" name="AutoShape 11"/>
          <p:cNvSpPr/>
          <p:nvPr/>
        </p:nvSpPr>
        <p:spPr>
          <a:xfrm>
            <a:off x="6477000" y="3683000"/>
            <a:ext cx="4699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1F5F9"/>
                </a:solidFill>
                <a:latin typeface="Noto Sans SC"/>
                <a:ea typeface="Noto Sans SC"/>
                <a:cs typeface="Noto Sans SC"/>
                <a:sym typeface="Noto Sans SC"/>
              </a:rPr>
              <a:t>Advantage: </a:t>
            </a:r>
            <a:r>
              <a:rPr lang="en-US" sz="1300" b="0" i="0" u="none" strike="noStrike">
                <a:solidFill>
                  <a:srgbClr val="F1F5F9"/>
                </a:solidFill>
                <a:latin typeface="Noto Sans SC"/>
                <a:ea typeface="Noto Sans SC"/>
                <a:cs typeface="Noto Sans SC"/>
                <a:sym typeface="Noto Sans SC"/>
              </a:rPr>
              <a:t>They are truly </a:t>
            </a:r>
            <a:r>
              <a:rPr lang="en-US" sz="1300" b="1" i="0" u="none" strike="noStrike">
                <a:solidFill>
                  <a:srgbClr val="34D399"/>
                </a:solidFill>
                <a:latin typeface="Noto Sans SC"/>
                <a:ea typeface="Noto Sans SC"/>
                <a:cs typeface="Noto Sans SC"/>
                <a:sym typeface="Noto Sans SC"/>
              </a:rPr>
              <a:t>“task-execution AI”</a:t>
            </a:r>
            <a:r>
              <a:rPr lang="en-US" sz="1300" b="0" i="0" u="none" strike="noStrike">
                <a:solidFill>
                  <a:srgbClr val="F1F5F9"/>
                </a:solidFill>
                <a:latin typeface="Noto Sans SC"/>
                <a:ea typeface="Noto Sans SC"/>
                <a:cs typeface="Noto Sans SC"/>
                <a:sym typeface="Noto Sans SC"/>
              </a:rPr>
              <a:t> — able to seamlessly install Ding’s skill packs, enabling standardized, secure access, operation, and real-time updates to the enterprise’s core knowledge base.</a:t>
            </a:r>
            <a:endParaRPr lang="en-US" sz="1100"/>
          </a:p>
        </p:txBody>
      </p:sp>
      <p:sp>
        <p:nvSpPr>
          <p:cNvPr id="12" name="AutoShape 12"/>
          <p:cNvSpPr/>
          <p:nvPr/>
        </p:nvSpPr>
        <p:spPr>
          <a:xfrm>
            <a:off x="762000" y="5715000"/>
            <a:ext cx="10668000" cy="889000"/>
          </a:xfrm>
          <a:prstGeom prst="roundRect">
            <a:avLst>
              <a:gd name="adj" fmla="val 11428"/>
            </a:avLst>
          </a:prstGeom>
          <a:solidFill>
            <a:srgbClr val="22D3EE">
              <a:alpha val="12000"/>
            </a:srgbClr>
          </a:solidFill>
          <a:ln w="12700" cap="flat" cmpd="sng">
            <a:solidFill>
              <a:srgbClr val="22D3EE">
                <a:alpha val="5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762000" y="5867400"/>
            <a:ext cx="106680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solidFill>
                <a:latin typeface="Noto Sans SC"/>
                <a:ea typeface="Noto Sans SC"/>
                <a:cs typeface="Noto Sans SC"/>
                <a:sym typeface="Noto Sans SC"/>
              </a:rPr>
              <a:t>💡 One-line Summary: Chat handles </a:t>
            </a:r>
            <a:r>
              <a:rPr lang="en-US" sz="1600" b="0" i="0" u="none" strike="noStrike">
                <a:solidFill>
                  <a:srgbClr val="94A3B8"/>
                </a:solidFill>
                <a:latin typeface="Noto Sans SC"/>
                <a:ea typeface="Noto Sans SC"/>
                <a:cs typeface="Noto Sans SC"/>
                <a:sym typeface="Noto Sans SC"/>
              </a:rPr>
              <a:t>“conversation”</a:t>
            </a:r>
            <a:r>
              <a:rPr lang="en-US" sz="1600" b="0" i="0" u="none" strike="noStrike">
                <a:solidFill>
                  <a:srgbClr val="FFFFFF"/>
                </a:solidFill>
                <a:latin typeface="Noto Sans SC"/>
                <a:ea typeface="Noto Sans SC"/>
                <a:cs typeface="Noto Sans SC"/>
                <a:sym typeface="Noto Sans SC"/>
              </a:rPr>
              <a:t>; Agent focuses on </a:t>
            </a:r>
            <a:r>
              <a:rPr lang="en-US" sz="1600" b="1" i="0" u="none" strike="noStrike">
                <a:solidFill>
                  <a:srgbClr val="22D3EE"/>
                </a:solidFill>
                <a:latin typeface="Noto Sans SC"/>
                <a:ea typeface="Noto Sans SC"/>
                <a:cs typeface="Noto Sans SC"/>
                <a:sym typeface="Noto Sans SC"/>
              </a:rPr>
              <a:t>“execution”</a:t>
            </a:r>
            <a:r>
              <a:rPr lang="en-US" sz="1600" b="0" i="0" u="none" strike="noStrike">
                <a:solidFill>
                  <a:srgbClr val="FFFFFF"/>
                </a:solidFill>
                <a:latin typeface="Noto Sans SC"/>
                <a:ea typeface="Noto Sans SC"/>
                <a:cs typeface="Noto Sans SC"/>
                <a:sym typeface="Noto Sans SC"/>
              </a:rPr>
              <a:t>.</a:t>
            </a:r>
            <a:r>
              <a:rPr lang="en-US" sz="1600" b="1" i="0" u="none" strike="noStrike">
                <a:solidFill>
                  <a:srgbClr val="FFFFFF"/>
                </a:solidFill>
                <a:latin typeface="Noto Sans SC"/>
                <a:ea typeface="Noto Sans SC"/>
                <a:cs typeface="Noto Sans SC"/>
                <a:sym typeface="Noto Sans SC"/>
              </a:rPr>
              <a:t>Ding serves only task-capable AI agents.</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2032000"/>
            <a:ext cx="2032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9600" b="1" i="0" u="none" strike="noStrike">
                <a:solidFill>
                  <a:srgbClr val="22D3EE"/>
                </a:solidFill>
                <a:latin typeface="Noto Sans SC"/>
                <a:ea typeface="Noto Sans SC"/>
                <a:cs typeface="Noto Sans SC"/>
                <a:sym typeface="Noto Sans SC"/>
              </a:rPr>
              <a:t>03</a:t>
            </a:r>
            <a:endParaRPr lang="en-US" sz="1100"/>
          </a:p>
        </p:txBody>
      </p:sp>
      <p:sp>
        <p:nvSpPr>
          <p:cNvPr id="4" name="AutoShape 4"/>
          <p:cNvSpPr/>
          <p:nvPr/>
        </p:nvSpPr>
        <p:spPr>
          <a:xfrm>
            <a:off x="3048000" y="2286000"/>
            <a:ext cx="838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a:ea typeface="Noto Sans SC"/>
                <a:cs typeface="Noto Sans SC"/>
                <a:sym typeface="Noto Sans SC"/>
              </a:rPr>
              <a:t>Ding’s Core Capabilities</a:t>
            </a:r>
            <a:endParaRPr lang="en-US" sz="1100"/>
          </a:p>
        </p:txBody>
      </p:sp>
      <p:sp>
        <p:nvSpPr>
          <p:cNvPr id="5" name="AutoShape 5"/>
          <p:cNvSpPr/>
          <p:nvPr/>
        </p:nvSpPr>
        <p:spPr>
          <a:xfrm>
            <a:off x="762000" y="4191000"/>
            <a:ext cx="1270000" cy="76200"/>
          </a:xfrm>
          <a:prstGeom prst="roundRect">
            <a:avLst>
              <a:gd name="adj" fmla="val 0"/>
            </a:avLst>
          </a:prstGeom>
          <a:solidFill>
            <a:srgbClr val="22D3E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4953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spc="200">
                <a:solidFill>
                  <a:srgbClr val="E5E7EB">
                    <a:alpha val="90196"/>
                  </a:srgbClr>
                </a:solidFill>
                <a:latin typeface="Noto Sans SC"/>
                <a:ea typeface="Noto Sans SC"/>
                <a:cs typeface="Noto Sans SC"/>
                <a:sym typeface="Noto Sans SC"/>
              </a:rPr>
              <a:t>Five Engines Driving Knowledge Evolution</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Engine 1: Everything is “Readable” — Multi-Format Intelligent Processing</a:t>
            </a:r>
            <a:endParaRPr lang="en-US" sz="1100"/>
          </a:p>
        </p:txBody>
      </p:sp>
      <p:sp>
        <p:nvSpPr>
          <p:cNvPr id="4" name="AutoShape 4"/>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D1D5DB"/>
                </a:solidFill>
                <a:latin typeface="Noto Sans SC"/>
                <a:ea typeface="Noto Sans SC"/>
                <a:cs typeface="Noto Sans SC"/>
                <a:sym typeface="Noto Sans SC"/>
              </a:rPr>
              <a:t>Ding transforms all your data into structured, searchable knowledge</a:t>
            </a:r>
            <a:endParaRPr lang="en-US" sz="1100"/>
          </a:p>
        </p:txBody>
      </p:sp>
      <p:sp>
        <p:nvSpPr>
          <p:cNvPr id="5" name="AutoShape 5"/>
          <p:cNvSpPr/>
          <p:nvPr/>
        </p:nvSpPr>
        <p:spPr>
          <a:xfrm>
            <a:off x="762000" y="2286000"/>
            <a:ext cx="3302000" cy="3937000"/>
          </a:xfrm>
          <a:prstGeom prst="roundRect">
            <a:avLst>
              <a:gd name="adj" fmla="val 4615"/>
            </a:avLst>
          </a:prstGeom>
          <a:solidFill>
            <a:srgbClr val="1F2937">
              <a:alpha val="90000"/>
            </a:srgbClr>
          </a:solidFill>
          <a:ln w="12700" cap="flat" cmpd="sng">
            <a:solidFill>
              <a:srgbClr val="22D3EE">
                <a:alpha val="4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srcRect t="9276" b="9276"/>
          <a:stretch>
            <a:fillRect/>
          </a:stretch>
        </p:blipFill>
        <p:spPr>
          <a:xfrm>
            <a:off x="1397000" y="2667000"/>
            <a:ext cx="2032000" cy="1143000"/>
          </a:xfrm>
          <a:prstGeom prst="rect">
            <a:avLst/>
          </a:prstGeom>
          <a:noFill/>
          <a:ln w="25400" cap="flat" cmpd="sng">
            <a:noFill/>
            <a:prstDash val="solid"/>
            <a:round/>
          </a:ln>
        </p:spPr>
      </p:pic>
      <p:sp>
        <p:nvSpPr>
          <p:cNvPr id="7" name="AutoShape 7"/>
          <p:cNvSpPr/>
          <p:nvPr/>
        </p:nvSpPr>
        <p:spPr>
          <a:xfrm>
            <a:off x="889000" y="4064000"/>
            <a:ext cx="304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22D3EE"/>
                </a:solidFill>
                <a:latin typeface="Noto Sans SC"/>
                <a:ea typeface="Noto Sans SC"/>
                <a:cs typeface="Noto Sans SC"/>
                <a:sym typeface="Noto Sans SC"/>
              </a:rPr>
              <a:t>Universal Compatibility</a:t>
            </a:r>
            <a:endParaRPr lang="en-US" sz="1100"/>
          </a:p>
        </p:txBody>
      </p:sp>
      <p:sp>
        <p:nvSpPr>
          <p:cNvPr id="8" name="AutoShape 8"/>
          <p:cNvSpPr/>
          <p:nvPr/>
        </p:nvSpPr>
        <p:spPr>
          <a:xfrm>
            <a:off x="952500" y="4953000"/>
            <a:ext cx="2921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300" b="0" i="0" u="none" strike="noStrike">
                <a:solidFill>
                  <a:srgbClr val="E5E7EB"/>
                </a:solidFill>
                <a:latin typeface="Noto Sans SC"/>
                <a:ea typeface="Noto Sans SC"/>
                <a:cs typeface="Noto Sans SC"/>
                <a:sym typeface="Noto Sans SC"/>
              </a:rPr>
              <a:t>Full support for all Office formats (Word, Excel, PPT), various PDFs (digital, scanned/image-based), and common image formats.</a:t>
            </a:r>
            <a:endParaRPr lang="en-US" sz="1100"/>
          </a:p>
        </p:txBody>
      </p:sp>
      <p:sp>
        <p:nvSpPr>
          <p:cNvPr id="9" name="AutoShape 9"/>
          <p:cNvSpPr/>
          <p:nvPr/>
        </p:nvSpPr>
        <p:spPr>
          <a:xfrm>
            <a:off x="4445000" y="2286000"/>
            <a:ext cx="3302000" cy="3937000"/>
          </a:xfrm>
          <a:prstGeom prst="roundRect">
            <a:avLst>
              <a:gd name="adj" fmla="val 4615"/>
            </a:avLst>
          </a:prstGeom>
          <a:solidFill>
            <a:srgbClr val="1F2937">
              <a:alpha val="90000"/>
            </a:srgbClr>
          </a:solidFill>
          <a:ln w="12700" cap="flat" cmpd="sng">
            <a:solidFill>
              <a:srgbClr val="22D3EE">
                <a:alpha val="4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srcRect t="17857" b="17857"/>
          <a:stretch>
            <a:fillRect/>
          </a:stretch>
        </p:blipFill>
        <p:spPr>
          <a:xfrm>
            <a:off x="5207000" y="2667000"/>
            <a:ext cx="1778000" cy="1143000"/>
          </a:xfrm>
          <a:prstGeom prst="rect">
            <a:avLst/>
          </a:prstGeom>
          <a:noFill/>
          <a:ln w="25400" cap="flat" cmpd="sng">
            <a:noFill/>
            <a:prstDash val="solid"/>
            <a:round/>
          </a:ln>
        </p:spPr>
      </p:pic>
      <p:sp>
        <p:nvSpPr>
          <p:cNvPr id="11" name="AutoShape 11"/>
          <p:cNvSpPr/>
          <p:nvPr/>
        </p:nvSpPr>
        <p:spPr>
          <a:xfrm>
            <a:off x="4572000" y="4064000"/>
            <a:ext cx="304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22D3EE"/>
                </a:solidFill>
                <a:latin typeface="Noto Sans SC"/>
                <a:ea typeface="Noto Sans SC"/>
                <a:cs typeface="Noto Sans SC"/>
                <a:sym typeface="Noto Sans SC"/>
              </a:rPr>
              <a:t>Auto Extraction</a:t>
            </a:r>
            <a:endParaRPr lang="en-US" sz="1100"/>
          </a:p>
        </p:txBody>
      </p:sp>
      <p:sp>
        <p:nvSpPr>
          <p:cNvPr id="12" name="AutoShape 12"/>
          <p:cNvSpPr/>
          <p:nvPr/>
        </p:nvSpPr>
        <p:spPr>
          <a:xfrm>
            <a:off x="4635500" y="4953000"/>
            <a:ext cx="2921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300" b="0" i="0" u="none" strike="noStrike">
                <a:solidFill>
                  <a:srgbClr val="E5E7EB"/>
                </a:solidFill>
                <a:latin typeface="Noto Sans SC"/>
                <a:ea typeface="Noto Sans SC"/>
                <a:cs typeface="Noto Sans SC"/>
                <a:sym typeface="Noto Sans SC"/>
              </a:rPr>
              <a:t>Once uploaded, Ding automatically extracts content and generates clean Markdown notes — making unstructured documents instantly “readable and searchable.”</a:t>
            </a:r>
            <a:endParaRPr lang="en-US" sz="1100"/>
          </a:p>
        </p:txBody>
      </p:sp>
      <p:sp>
        <p:nvSpPr>
          <p:cNvPr id="13" name="AutoShape 13"/>
          <p:cNvSpPr/>
          <p:nvPr/>
        </p:nvSpPr>
        <p:spPr>
          <a:xfrm>
            <a:off x="8128000" y="2286000"/>
            <a:ext cx="3302000" cy="3937000"/>
          </a:xfrm>
          <a:prstGeom prst="roundRect">
            <a:avLst>
              <a:gd name="adj" fmla="val 4615"/>
            </a:avLst>
          </a:prstGeom>
          <a:solidFill>
            <a:srgbClr val="1F2937">
              <a:alpha val="90000"/>
            </a:srgbClr>
          </a:solidFill>
          <a:ln w="12700" cap="flat" cmpd="sng">
            <a:solidFill>
              <a:srgbClr val="22D3EE">
                <a:alpha val="4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07500" y="2730500"/>
            <a:ext cx="1143000" cy="1016000"/>
          </a:xfrm>
          <a:prstGeom prst="rect">
            <a:avLst/>
          </a:prstGeom>
        </p:spPr>
      </p:pic>
      <p:sp>
        <p:nvSpPr>
          <p:cNvPr id="15" name="AutoShape 15"/>
          <p:cNvSpPr/>
          <p:nvPr/>
        </p:nvSpPr>
        <p:spPr>
          <a:xfrm>
            <a:off x="8255000" y="4064000"/>
            <a:ext cx="304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22D3EE"/>
                </a:solidFill>
                <a:latin typeface="Noto Sans SC"/>
                <a:ea typeface="Noto Sans SC"/>
                <a:cs typeface="Noto Sans SC"/>
                <a:sym typeface="Noto Sans SC"/>
              </a:rPr>
              <a:t>Processing Dashboard</a:t>
            </a:r>
            <a:endParaRPr lang="en-US" sz="1100"/>
          </a:p>
        </p:txBody>
      </p:sp>
      <p:sp>
        <p:nvSpPr>
          <p:cNvPr id="16" name="AutoShape 16"/>
          <p:cNvSpPr/>
          <p:nvPr/>
        </p:nvSpPr>
        <p:spPr>
          <a:xfrm>
            <a:off x="8318500" y="4953000"/>
            <a:ext cx="2921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300" b="0" i="0" u="none" strike="noStrike">
                <a:solidFill>
                  <a:srgbClr val="E5E7EB"/>
                </a:solidFill>
                <a:latin typeface="Noto Sans SC"/>
                <a:ea typeface="Noto Sans SC"/>
                <a:cs typeface="Noto Sans SC"/>
                <a:sym typeface="Noto Sans SC"/>
              </a:rPr>
              <a:t>The system clearly shows which materials are pending processing, giving you a clear view of knowledge organization progress and easy control over document processing pace.</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Engine 2: Web Knowledge, One-Click Import</a:t>
            </a:r>
            <a:endParaRPr lang="en-US" sz="1100"/>
          </a:p>
        </p:txBody>
      </p:sp>
      <p:sp>
        <p:nvSpPr>
          <p:cNvPr id="4" name="AutoShape 4"/>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D1D5DB"/>
                </a:solidFill>
                <a:latin typeface="Noto Sans SC"/>
                <a:ea typeface="Noto Sans SC"/>
                <a:cs typeface="Noto Sans SC"/>
                <a:sym typeface="Noto Sans SC"/>
              </a:rPr>
              <a:t>Say goodbye to tedious manual copy-paste and file management — make knowledge accumulation more efficient.</a:t>
            </a:r>
            <a:endParaRPr lang="en-US" sz="1100"/>
          </a:p>
        </p:txBody>
      </p:sp>
      <p:pic>
        <p:nvPicPr>
          <p:cNvPr id="5" name="Picture 5"/>
          <p:cNvPicPr>
            <a:picLocks noChangeAspect="1"/>
          </p:cNvPicPr>
          <p:nvPr/>
        </p:nvPicPr>
        <p:blipFill>
          <a:blip r:embed="rId4"/>
          <a:srcRect l="7119" r="7119"/>
          <a:stretch>
            <a:fillRect/>
          </a:stretch>
        </p:blipFill>
        <p:spPr>
          <a:xfrm>
            <a:off x="762000" y="2032000"/>
            <a:ext cx="4572000" cy="2921000"/>
          </a:xfrm>
          <a:prstGeom prst="roundRect">
            <a:avLst>
              <a:gd name="adj" fmla="val 5217"/>
            </a:avLst>
          </a:prstGeom>
          <a:noFill/>
          <a:ln w="25400" cap="flat" cmpd="sng">
            <a:solidFill>
              <a:srgbClr val="22D3EE">
                <a:alpha val="60000"/>
              </a:srgbClr>
            </a:solidFill>
            <a:prstDash val="solid"/>
            <a:round/>
          </a:ln>
          <a:effectLst>
            <a:outerShdw blurRad="444500" dist="190500" dir="2700000" algn="tl" rotWithShape="0">
              <a:srgbClr val="000000">
                <a:alpha val="25000"/>
              </a:srgbClr>
            </a:outerShdw>
          </a:effectLst>
        </p:spPr>
      </p:pic>
      <p:sp>
        <p:nvSpPr>
          <p:cNvPr id="6" name="AutoShape 6"/>
          <p:cNvSpPr/>
          <p:nvPr/>
        </p:nvSpPr>
        <p:spPr>
          <a:xfrm>
            <a:off x="5715000" y="2032000"/>
            <a:ext cx="5715000" cy="952500"/>
          </a:xfrm>
          <a:prstGeom prst="roundRect">
            <a:avLst>
              <a:gd name="adj" fmla="val 10666"/>
            </a:avLst>
          </a:prstGeom>
          <a:solidFill>
            <a:srgbClr val="22D3EE">
              <a:alpha val="12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05500" y="2222500"/>
            <a:ext cx="558800" cy="558800"/>
          </a:xfrm>
          <a:prstGeom prst="rect">
            <a:avLst/>
          </a:prstGeom>
        </p:spPr>
      </p:pic>
      <p:sp>
        <p:nvSpPr>
          <p:cNvPr id="8" name="AutoShape 8"/>
          <p:cNvSpPr/>
          <p:nvPr/>
        </p:nvSpPr>
        <p:spPr>
          <a:xfrm>
            <a:off x="6604000" y="21590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D3EE"/>
                </a:solidFill>
                <a:latin typeface="Noto Sans SC"/>
                <a:ea typeface="Noto Sans SC"/>
                <a:cs typeface="Noto Sans SC"/>
                <a:sym typeface="Noto Sans SC"/>
              </a:rPr>
              <a:t>You simply provide: </a:t>
            </a:r>
            <a:r>
              <a:rPr lang="en-US" sz="1400" b="0" i="0" u="none" strike="noStrike">
                <a:solidFill>
                  <a:srgbClr val="E5E7EB"/>
                </a:solidFill>
                <a:latin typeface="Noto Sans SC"/>
                <a:ea typeface="Noto Sans SC"/>
                <a:cs typeface="Noto Sans SC"/>
                <a:sym typeface="Noto Sans SC"/>
              </a:rPr>
              <a:t>a specific research topic (e.g., “2026 New Energy Vehicle Market Report”) or any public web link, and the intelligent workflow begins.</a:t>
            </a:r>
            <a:endParaRPr lang="en-US" sz="1100"/>
          </a:p>
        </p:txBody>
      </p:sp>
      <p:sp>
        <p:nvSpPr>
          <p:cNvPr id="9" name="AutoShape 9"/>
          <p:cNvSpPr/>
          <p:nvPr/>
        </p:nvSpPr>
        <p:spPr>
          <a:xfrm>
            <a:off x="5715000" y="3175000"/>
            <a:ext cx="2730500" cy="1524000"/>
          </a:xfrm>
          <a:prstGeom prst="roundRect">
            <a:avLst>
              <a:gd name="adj" fmla="val 5000"/>
            </a:avLst>
          </a:prstGeom>
          <a:solidFill>
            <a:srgbClr val="1F2937">
              <a:alpha val="85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05500" y="3365500"/>
            <a:ext cx="406400" cy="406400"/>
          </a:xfrm>
          <a:prstGeom prst="rect">
            <a:avLst/>
          </a:prstGeom>
        </p:spPr>
      </p:pic>
      <p:sp>
        <p:nvSpPr>
          <p:cNvPr id="11" name="AutoShape 11"/>
          <p:cNvSpPr/>
          <p:nvPr/>
        </p:nvSpPr>
        <p:spPr>
          <a:xfrm>
            <a:off x="6477000" y="3327400"/>
            <a:ext cx="184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Web Search &amp; Download</a:t>
            </a:r>
            <a:endParaRPr lang="en-US" sz="1100"/>
          </a:p>
          <a:p>
            <a:pPr marL="0" indent="0" algn="l">
              <a:lnSpc>
                <a:spcPct val="125000"/>
              </a:lnSpc>
            </a:pPr>
            <a:r>
              <a:rPr lang="en-US" sz="1200" b="0" i="0" u="none" strike="noStrike">
                <a:solidFill>
                  <a:srgbClr val="9CA3AF"/>
                </a:solidFill>
                <a:latin typeface="Noto Sans SC"/>
                <a:ea typeface="Noto Sans SC"/>
                <a:cs typeface="Noto Sans SC"/>
                <a:sym typeface="Noto Sans SC"/>
              </a:rPr>
              <a:t>Automatically searches PubMed, industry portals, and other public web resources to precisely locate and download materials.</a:t>
            </a:r>
          </a:p>
        </p:txBody>
      </p:sp>
      <p:sp>
        <p:nvSpPr>
          <p:cNvPr id="12" name="AutoShape 12"/>
          <p:cNvSpPr/>
          <p:nvPr/>
        </p:nvSpPr>
        <p:spPr>
          <a:xfrm>
            <a:off x="8699500" y="3175000"/>
            <a:ext cx="2730500" cy="1524000"/>
          </a:xfrm>
          <a:prstGeom prst="roundRect">
            <a:avLst>
              <a:gd name="adj" fmla="val 5000"/>
            </a:avLst>
          </a:prstGeom>
          <a:solidFill>
            <a:srgbClr val="1F2937">
              <a:alpha val="85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90000" y="3365500"/>
            <a:ext cx="406400" cy="406400"/>
          </a:xfrm>
          <a:prstGeom prst="rect">
            <a:avLst/>
          </a:prstGeom>
        </p:spPr>
      </p:pic>
      <p:sp>
        <p:nvSpPr>
          <p:cNvPr id="14" name="AutoShape 14"/>
          <p:cNvSpPr/>
          <p:nvPr/>
        </p:nvSpPr>
        <p:spPr>
          <a:xfrm>
            <a:off x="9461500" y="3327400"/>
            <a:ext cx="184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Auto Import &amp; Classification</a:t>
            </a:r>
            <a:endParaRPr lang="en-US" sz="1100"/>
          </a:p>
          <a:p>
            <a:pPr marL="0" indent="0" algn="l">
              <a:lnSpc>
                <a:spcPct val="125000"/>
              </a:lnSpc>
            </a:pPr>
            <a:r>
              <a:rPr lang="en-US" sz="1200" b="0" i="0" u="none" strike="noStrike">
                <a:solidFill>
                  <a:srgbClr val="9CA3AF"/>
                </a:solidFill>
                <a:latin typeface="Noto Sans SC"/>
                <a:ea typeface="Noto Sans SC"/>
                <a:cs typeface="Noto Sans SC"/>
                <a:sym typeface="Noto Sans SC"/>
              </a:rPr>
              <a:t>Automatically stores downloaded originals into your personal knowledge base, with structured archiving by document type.</a:t>
            </a:r>
          </a:p>
        </p:txBody>
      </p:sp>
      <p:sp>
        <p:nvSpPr>
          <p:cNvPr id="15" name="AutoShape 15"/>
          <p:cNvSpPr/>
          <p:nvPr/>
        </p:nvSpPr>
        <p:spPr>
          <a:xfrm>
            <a:off x="5715000" y="4826000"/>
            <a:ext cx="2730500" cy="1524000"/>
          </a:xfrm>
          <a:prstGeom prst="roundRect">
            <a:avLst>
              <a:gd name="adj" fmla="val 5000"/>
            </a:avLst>
          </a:prstGeom>
          <a:solidFill>
            <a:srgbClr val="1F2937">
              <a:alpha val="85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05500" y="5016500"/>
            <a:ext cx="406400" cy="406400"/>
          </a:xfrm>
          <a:prstGeom prst="rect">
            <a:avLst/>
          </a:prstGeom>
        </p:spPr>
      </p:pic>
      <p:sp>
        <p:nvSpPr>
          <p:cNvPr id="17" name="AutoShape 17"/>
          <p:cNvSpPr/>
          <p:nvPr/>
        </p:nvSpPr>
        <p:spPr>
          <a:xfrm>
            <a:off x="6477000" y="4978400"/>
            <a:ext cx="184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Content Extraction &amp; Tagging</a:t>
            </a:r>
            <a:endParaRPr lang="en-US" sz="1100"/>
          </a:p>
          <a:p>
            <a:pPr marL="0" indent="0" algn="l">
              <a:lnSpc>
                <a:spcPct val="125000"/>
              </a:lnSpc>
            </a:pPr>
            <a:r>
              <a:rPr lang="en-US" sz="1200" b="0" i="0" u="none" strike="noStrike">
                <a:solidFill>
                  <a:srgbClr val="9CA3AF"/>
                </a:solidFill>
                <a:latin typeface="Noto Sans SC"/>
                <a:ea typeface="Noto Sans SC"/>
                <a:cs typeface="Noto Sans SC"/>
                <a:sym typeface="Noto Sans SC"/>
              </a:rPr>
              <a:t>Automatically extracts key notes and generates intelligent tags based on dimensions like topic, industry, and year.</a:t>
            </a:r>
          </a:p>
        </p:txBody>
      </p:sp>
      <p:sp>
        <p:nvSpPr>
          <p:cNvPr id="18" name="AutoShape 18"/>
          <p:cNvSpPr/>
          <p:nvPr/>
        </p:nvSpPr>
        <p:spPr>
          <a:xfrm>
            <a:off x="8699500" y="4826000"/>
            <a:ext cx="2730500" cy="1524000"/>
          </a:xfrm>
          <a:prstGeom prst="roundRect">
            <a:avLst>
              <a:gd name="adj" fmla="val 5000"/>
            </a:avLst>
          </a:prstGeom>
          <a:solidFill>
            <a:srgbClr val="1F2937">
              <a:alpha val="85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0000" y="5016500"/>
            <a:ext cx="406400" cy="406400"/>
          </a:xfrm>
          <a:prstGeom prst="rect">
            <a:avLst/>
          </a:prstGeom>
        </p:spPr>
      </p:pic>
      <p:sp>
        <p:nvSpPr>
          <p:cNvPr id="20" name="AutoShape 20"/>
          <p:cNvSpPr/>
          <p:nvPr/>
        </p:nvSpPr>
        <p:spPr>
          <a:xfrm>
            <a:off x="9461500" y="4978400"/>
            <a:ext cx="184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Build Searchable Index</a:t>
            </a:r>
            <a:endParaRPr lang="en-US" sz="1100"/>
          </a:p>
          <a:p>
            <a:pPr marL="0" indent="0" algn="l">
              <a:lnSpc>
                <a:spcPct val="125000"/>
              </a:lnSpc>
            </a:pPr>
            <a:r>
              <a:rPr lang="en-US" sz="1200" b="0" i="0" u="none" strike="noStrike">
                <a:solidFill>
                  <a:srgbClr val="9CA3AF"/>
                </a:solidFill>
                <a:latin typeface="Noto Sans SC"/>
                <a:ea typeface="Noto Sans SC"/>
                <a:cs typeface="Noto Sans SC"/>
                <a:sym typeface="Noto Sans SC"/>
              </a:rPr>
              <a:t>Instantly enters the semantic search system, supporting natural language Q&amp;A — making knowledge </a:t>
            </a:r>
            <a:r>
              <a:rPr lang="en-US" sz="1200" b="1" i="0" u="none" strike="noStrike">
                <a:solidFill>
                  <a:srgbClr val="22D3EE"/>
                </a:solidFill>
                <a:latin typeface="Noto Sans SC"/>
                <a:ea typeface="Noto Sans SC"/>
                <a:cs typeface="Noto Sans SC"/>
                <a:sym typeface="Noto Sans SC"/>
              </a:rPr>
              <a:t>immediately searchable and citable</a:t>
            </a:r>
            <a:r>
              <a:rPr lang="en-US" sz="1200" b="0" i="0" u="none" strike="noStrike">
                <a:solidFill>
                  <a:srgbClr val="9CA3AF"/>
                </a:solidFill>
                <a:latin typeface="Noto Sans SC"/>
                <a:ea typeface="Noto Sans SC"/>
                <a:cs typeface="Noto Sans SC"/>
                <a:sym typeface="Noto Sans SC"/>
              </a:rPr>
              <a:t>.</a:t>
            </a:r>
          </a:p>
        </p:txBody>
      </p:sp>
      <p:sp>
        <p:nvSpPr>
          <p:cNvPr id="21" name="AutoShape 21"/>
          <p:cNvSpPr/>
          <p:nvPr/>
        </p:nvSpPr>
        <p:spPr>
          <a:xfrm>
            <a:off x="762000" y="5334000"/>
            <a:ext cx="4572000" cy="1270000"/>
          </a:xfrm>
          <a:prstGeom prst="roundRect">
            <a:avLst>
              <a:gd name="adj" fmla="val 8000"/>
            </a:avLst>
          </a:prstGeom>
          <a:solidFill>
            <a:srgbClr val="111827">
              <a:alpha val="95000"/>
            </a:srgbClr>
          </a:solidFill>
          <a:ln w="25400" cap="flat" cmpd="sng">
            <a:solidFill>
              <a:srgbClr val="22D3EE">
                <a:alpha val="8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588000"/>
            <a:ext cx="762000" cy="762000"/>
          </a:xfrm>
          <a:prstGeom prst="rect">
            <a:avLst/>
          </a:prstGeom>
        </p:spPr>
      </p:pic>
      <p:sp>
        <p:nvSpPr>
          <p:cNvPr id="23" name="AutoShape 23"/>
          <p:cNvSpPr/>
          <p:nvPr/>
        </p:nvSpPr>
        <p:spPr>
          <a:xfrm>
            <a:off x="1841500" y="54610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Strategic Value for Decision Makers</a:t>
            </a:r>
            <a:endParaRPr lang="en-US" sz="1100"/>
          </a:p>
          <a:p>
            <a:pPr marL="0" indent="0" algn="l">
              <a:lnSpc>
                <a:spcPct val="125000"/>
              </a:lnSpc>
            </a:pPr>
            <a:r>
              <a:rPr lang="en-US" sz="1200" b="0" i="0" u="none" strike="noStrike">
                <a:solidFill>
                  <a:srgbClr val="D1D5DB"/>
                </a:solidFill>
                <a:latin typeface="Noto Sans SC"/>
                <a:ea typeface="Noto Sans SC"/>
                <a:cs typeface="Noto Sans SC"/>
                <a:sym typeface="Noto Sans SC"/>
              </a:rPr>
              <a:t>Fragmented high-value online information is no longer fleeting — it is efficiently consolidated into reusable, formal enterprise knowledge assets.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Engine 3: Knowledge Interconnection, Insight Emergence</a:t>
            </a:r>
            <a:endParaRPr lang="en-US" sz="1100"/>
          </a:p>
        </p:txBody>
      </p:sp>
      <p:sp>
        <p:nvSpPr>
          <p:cNvPr id="4" name="AutoShape 4"/>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22D3EE"/>
                </a:solidFill>
                <a:latin typeface="Noto Sans SC"/>
                <a:ea typeface="Noto Sans SC"/>
                <a:cs typeface="Noto Sans SC"/>
                <a:sym typeface="Noto Sans SC"/>
              </a:rPr>
              <a:t>Ding doesn’t just store knowledge — it connects it.</a:t>
            </a:r>
            <a:endParaRPr lang="en-US" sz="1100"/>
          </a:p>
        </p:txBody>
      </p:sp>
      <p:pic>
        <p:nvPicPr>
          <p:cNvPr id="5" name="Picture 5"/>
          <p:cNvPicPr>
            <a:picLocks noChangeAspect="1"/>
          </p:cNvPicPr>
          <p:nvPr/>
        </p:nvPicPr>
        <p:blipFill>
          <a:blip r:embed="rId4"/>
          <a:srcRect t="458" b="458"/>
          <a:stretch>
            <a:fillRect/>
          </a:stretch>
        </p:blipFill>
        <p:spPr>
          <a:xfrm>
            <a:off x="762000" y="2286000"/>
            <a:ext cx="5080000" cy="3048000"/>
          </a:xfrm>
          <a:prstGeom prst="roundRect">
            <a:avLst>
              <a:gd name="adj" fmla="val 5000"/>
            </a:avLst>
          </a:prstGeom>
          <a:noFill/>
          <a:ln w="25400" cap="flat" cmpd="sng">
            <a:solidFill>
              <a:srgbClr val="22D3EE">
                <a:alpha val="40000"/>
              </a:srgbClr>
            </a:solidFill>
            <a:prstDash val="solid"/>
            <a:round/>
          </a:ln>
          <a:effectLst>
            <a:outerShdw blurRad="444500" dist="190500" dir="2700000" algn="tl" rotWithShape="0">
              <a:srgbClr val="000000">
                <a:alpha val="25000"/>
              </a:srgbClr>
            </a:outerShdw>
          </a:effectLst>
        </p:spPr>
      </p:pic>
      <p:sp>
        <p:nvSpPr>
          <p:cNvPr id="6" name="AutoShape 6"/>
          <p:cNvSpPr/>
          <p:nvPr/>
        </p:nvSpPr>
        <p:spPr>
          <a:xfrm>
            <a:off x="6223000" y="2159000"/>
            <a:ext cx="5207000" cy="1206500"/>
          </a:xfrm>
          <a:prstGeom prst="roundRect">
            <a:avLst>
              <a:gd name="adj" fmla="val 8421"/>
            </a:avLst>
          </a:prstGeom>
          <a:solidFill>
            <a:srgbClr val="1F2937">
              <a:alpha val="80000"/>
            </a:srgbClr>
          </a:solidFill>
          <a:ln w="12700" cap="flat" cmpd="sng">
            <a:solidFill>
              <a:srgbClr val="374151">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438400"/>
            <a:ext cx="609600" cy="609600"/>
          </a:xfrm>
          <a:prstGeom prst="rect">
            <a:avLst/>
          </a:prstGeom>
        </p:spPr>
      </p:pic>
      <p:sp>
        <p:nvSpPr>
          <p:cNvPr id="8" name="AutoShape 8"/>
          <p:cNvSpPr/>
          <p:nvPr/>
        </p:nvSpPr>
        <p:spPr>
          <a:xfrm>
            <a:off x="7366000" y="2349500"/>
            <a:ext cx="393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FFFFFF"/>
                </a:solidFill>
                <a:latin typeface="Noto Sans SC"/>
                <a:ea typeface="Noto Sans SC"/>
                <a:cs typeface="Noto Sans SC"/>
                <a:sym typeface="Noto Sans SC"/>
              </a:rPr>
              <a:t>Tag Relationship Graph</a:t>
            </a:r>
            <a:endParaRPr lang="en-US" sz="1100"/>
          </a:p>
          <a:p>
            <a:pPr marL="0" indent="0" algn="l">
              <a:lnSpc>
                <a:spcPct val="100000"/>
              </a:lnSpc>
            </a:pPr>
            <a:r>
              <a:rPr lang="en-US" sz="1200" b="0" i="0" u="none" strike="noStrike">
                <a:solidFill>
                  <a:srgbClr val="D1D5DB"/>
                </a:solidFill>
                <a:latin typeface="Noto Sans SC"/>
                <a:ea typeface="Noto Sans SC"/>
                <a:cs typeface="Noto Sans SC"/>
                <a:sym typeface="Noto Sans SC"/>
              </a:rPr>
              <a:t>Visually displays which topics frequently co-occur, helping you discover hidden knowledge clusters and information gaps.</a:t>
            </a:r>
          </a:p>
        </p:txBody>
      </p:sp>
      <p:sp>
        <p:nvSpPr>
          <p:cNvPr id="9" name="AutoShape 9"/>
          <p:cNvSpPr/>
          <p:nvPr/>
        </p:nvSpPr>
        <p:spPr>
          <a:xfrm>
            <a:off x="6223000" y="3556000"/>
            <a:ext cx="5207000" cy="1206500"/>
          </a:xfrm>
          <a:prstGeom prst="roundRect">
            <a:avLst>
              <a:gd name="adj" fmla="val 8421"/>
            </a:avLst>
          </a:prstGeom>
          <a:solidFill>
            <a:srgbClr val="1F2937">
              <a:alpha val="80000"/>
            </a:srgbClr>
          </a:solidFill>
          <a:ln w="12700" cap="flat" cmpd="sng">
            <a:solidFill>
              <a:srgbClr val="374151">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3835400"/>
            <a:ext cx="609600" cy="609600"/>
          </a:xfrm>
          <a:prstGeom prst="rect">
            <a:avLst/>
          </a:prstGeom>
        </p:spPr>
      </p:pic>
      <p:sp>
        <p:nvSpPr>
          <p:cNvPr id="11" name="AutoShape 11"/>
          <p:cNvSpPr/>
          <p:nvPr/>
        </p:nvSpPr>
        <p:spPr>
          <a:xfrm>
            <a:off x="7366000" y="3746500"/>
            <a:ext cx="393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FFFFFF"/>
                </a:solidFill>
                <a:latin typeface="Noto Sans SC"/>
                <a:ea typeface="Noto Sans SC"/>
                <a:cs typeface="Noto Sans SC"/>
                <a:sym typeface="Noto Sans SC"/>
              </a:rPr>
              <a:t>Anchor Navigation</a:t>
            </a:r>
            <a:endParaRPr lang="en-US" sz="1100"/>
          </a:p>
          <a:p>
            <a:pPr marL="0" indent="0" algn="l">
              <a:lnSpc>
                <a:spcPct val="100000"/>
              </a:lnSpc>
            </a:pPr>
            <a:r>
              <a:rPr lang="en-US" sz="1200" b="0" i="0" u="none" strike="noStrike">
                <a:solidFill>
                  <a:srgbClr val="D1D5DB"/>
                </a:solidFill>
                <a:latin typeface="Noto Sans SC"/>
                <a:ea typeface="Noto Sans SC"/>
                <a:cs typeface="Noto Sans SC"/>
                <a:sym typeface="Noto Sans SC"/>
              </a:rPr>
              <a:t>Jump directly from a tag to a specific paragraph in a specific file, achieving precise knowledge content targeting.</a:t>
            </a:r>
          </a:p>
        </p:txBody>
      </p:sp>
      <p:sp>
        <p:nvSpPr>
          <p:cNvPr id="12" name="AutoShape 12"/>
          <p:cNvSpPr/>
          <p:nvPr/>
        </p:nvSpPr>
        <p:spPr>
          <a:xfrm>
            <a:off x="6223000" y="4953000"/>
            <a:ext cx="5207000" cy="1206500"/>
          </a:xfrm>
          <a:prstGeom prst="roundRect">
            <a:avLst>
              <a:gd name="adj" fmla="val 8421"/>
            </a:avLst>
          </a:prstGeom>
          <a:solidFill>
            <a:srgbClr val="1F2937">
              <a:alpha val="80000"/>
            </a:srgbClr>
          </a:solidFill>
          <a:ln w="12700" cap="flat" cmpd="sng">
            <a:solidFill>
              <a:srgbClr val="374151">
                <a:alpha val="10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5232400"/>
            <a:ext cx="609600" cy="609600"/>
          </a:xfrm>
          <a:prstGeom prst="rect">
            <a:avLst/>
          </a:prstGeom>
        </p:spPr>
      </p:pic>
      <p:sp>
        <p:nvSpPr>
          <p:cNvPr id="14" name="AutoShape 14"/>
          <p:cNvSpPr/>
          <p:nvPr/>
        </p:nvSpPr>
        <p:spPr>
          <a:xfrm>
            <a:off x="7366000" y="5143500"/>
            <a:ext cx="393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FFFFFF"/>
                </a:solidFill>
                <a:latin typeface="Noto Sans SC"/>
                <a:ea typeface="Noto Sans SC"/>
                <a:cs typeface="Noto Sans SC"/>
                <a:sym typeface="Noto Sans SC"/>
              </a:rPr>
              <a:t>Global Directory Index</a:t>
            </a:r>
            <a:endParaRPr lang="en-US" sz="1100"/>
          </a:p>
          <a:p>
            <a:pPr marL="0" indent="0" algn="l">
              <a:lnSpc>
                <a:spcPct val="100000"/>
              </a:lnSpc>
            </a:pPr>
            <a:r>
              <a:rPr lang="en-US" sz="1200" b="0" i="0" u="none" strike="noStrike">
                <a:solidFill>
                  <a:srgbClr val="D1D5DB"/>
                </a:solidFill>
                <a:latin typeface="Noto Sans SC"/>
                <a:ea typeface="Noto Sans SC"/>
                <a:cs typeface="Noto Sans SC"/>
                <a:sym typeface="Noto Sans SC"/>
              </a:rPr>
              <a:t>Provides a global bird’s-eye view of the knowledge base, combined with folder browsing, giving you full command of your organization’s knowledge assets.</a:t>
            </a:r>
          </a:p>
        </p:txBody>
      </p:sp>
      <p:sp>
        <p:nvSpPr>
          <p:cNvPr id="15" name="AutoShape 15"/>
          <p:cNvSpPr/>
          <p:nvPr/>
        </p:nvSpPr>
        <p:spPr>
          <a:xfrm>
            <a:off x="762000" y="6096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D3EE"/>
                </a:solidFill>
                <a:latin typeface="Noto Sans SC"/>
                <a:ea typeface="Noto Sans SC"/>
                <a:cs typeface="Noto Sans SC"/>
                <a:sym typeface="Noto Sans SC"/>
              </a:rPr>
              <a:t>From scattered files to an interconnected knowledge network — Ding brings knowledge to life.</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Engine 4: Secure, Controlled &amp; Permission-Clear</a:t>
            </a:r>
            <a:endParaRPr lang="en-US" sz="1100"/>
          </a:p>
        </p:txBody>
      </p:sp>
      <p:sp>
        <p:nvSpPr>
          <p:cNvPr id="4" name="AutoShape 4"/>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D1D5DB"/>
                </a:solidFill>
                <a:latin typeface="Noto Sans SC"/>
                <a:ea typeface="Noto Sans SC"/>
                <a:cs typeface="Noto Sans SC"/>
                <a:sym typeface="Noto Sans SC"/>
              </a:rPr>
              <a:t>The value of knowledge lies in sharing — and in security.</a:t>
            </a:r>
            <a:endParaRPr lang="en-US" sz="1100"/>
          </a:p>
        </p:txBody>
      </p:sp>
      <p:pic>
        <p:nvPicPr>
          <p:cNvPr id="5" name="Picture 5"/>
          <p:cNvPicPr>
            <a:picLocks noChangeAspect="1"/>
          </p:cNvPicPr>
          <p:nvPr/>
        </p:nvPicPr>
        <p:blipFill>
          <a:blip r:embed="rId4"/>
          <a:srcRect l="7777" r="7777"/>
          <a:stretch>
            <a:fillRect/>
          </a:stretch>
        </p:blipFill>
        <p:spPr>
          <a:xfrm>
            <a:off x="762000" y="2286000"/>
            <a:ext cx="4826000" cy="3810000"/>
          </a:xfrm>
          <a:prstGeom prst="rect">
            <a:avLst/>
          </a:prstGeom>
          <a:noFill/>
          <a:ln w="25400" cap="flat" cmpd="sng">
            <a:solidFill>
              <a:srgbClr val="22D3EE">
                <a:alpha val="50000"/>
              </a:srgbClr>
            </a:solidFill>
            <a:prstDash val="solid"/>
            <a:round/>
          </a:ln>
          <a:effectLst>
            <a:outerShdw blurRad="444500" dist="190500" dir="2700000" algn="tl" rotWithShape="0">
              <a:srgbClr val="000000">
                <a:alpha val="25000"/>
              </a:srgbClr>
            </a:outerShdw>
          </a:effectLst>
        </p:spPr>
      </p:pic>
      <p:sp>
        <p:nvSpPr>
          <p:cNvPr id="6" name="AutoShape 6"/>
          <p:cNvSpPr/>
          <p:nvPr/>
        </p:nvSpPr>
        <p:spPr>
          <a:xfrm>
            <a:off x="6096000" y="2286000"/>
            <a:ext cx="2540000" cy="1778000"/>
          </a:xfrm>
          <a:prstGeom prst="roundRect">
            <a:avLst>
              <a:gd name="adj" fmla="val 5714"/>
            </a:avLst>
          </a:prstGeom>
          <a:solidFill>
            <a:srgbClr val="1F2937">
              <a:alpha val="90000"/>
            </a:srgbClr>
          </a:solidFill>
          <a:ln w="12700" cap="flat" cmpd="sng">
            <a:solidFill>
              <a:srgbClr val="22D3EE">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86500" y="2476500"/>
            <a:ext cx="355600" cy="355600"/>
          </a:xfrm>
          <a:prstGeom prst="rect">
            <a:avLst/>
          </a:prstGeom>
        </p:spPr>
      </p:pic>
      <p:sp>
        <p:nvSpPr>
          <p:cNvPr id="8" name="AutoShape 8"/>
          <p:cNvSpPr/>
          <p:nvPr/>
        </p:nvSpPr>
        <p:spPr>
          <a:xfrm>
            <a:off x="6794500" y="2438400"/>
            <a:ext cx="165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Independent Knowledge Bases</a:t>
            </a:r>
            <a:endParaRPr lang="en-US" sz="1100"/>
          </a:p>
        </p:txBody>
      </p:sp>
      <p:sp>
        <p:nvSpPr>
          <p:cNvPr id="9" name="AutoShape 9"/>
          <p:cNvSpPr/>
          <p:nvPr/>
        </p:nvSpPr>
        <p:spPr>
          <a:xfrm>
            <a:off x="6286500" y="3111500"/>
            <a:ext cx="215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D1D5DB"/>
                </a:solidFill>
                <a:latin typeface="Noto Sans SC"/>
                <a:ea typeface="Noto Sans SC"/>
                <a:cs typeface="Noto Sans SC"/>
                <a:sym typeface="Noto Sans SC"/>
              </a:rPr>
              <a:t>Each user has an independent knowledge base, ensuring personal data privacy and logical data isolation.</a:t>
            </a:r>
            <a:endParaRPr lang="en-US" sz="1100"/>
          </a:p>
        </p:txBody>
      </p:sp>
      <p:sp>
        <p:nvSpPr>
          <p:cNvPr id="10" name="AutoShape 10"/>
          <p:cNvSpPr/>
          <p:nvPr/>
        </p:nvSpPr>
        <p:spPr>
          <a:xfrm>
            <a:off x="8890000" y="2286000"/>
            <a:ext cx="2540000" cy="1778000"/>
          </a:xfrm>
          <a:prstGeom prst="roundRect">
            <a:avLst>
              <a:gd name="adj" fmla="val 5714"/>
            </a:avLst>
          </a:prstGeom>
          <a:solidFill>
            <a:srgbClr val="1F2937">
              <a:alpha val="90000"/>
            </a:srgbClr>
          </a:solidFill>
          <a:ln w="12700" cap="flat" cmpd="sng">
            <a:solidFill>
              <a:srgbClr val="22D3EE">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80500" y="2476500"/>
            <a:ext cx="355600" cy="355600"/>
          </a:xfrm>
          <a:prstGeom prst="rect">
            <a:avLst/>
          </a:prstGeom>
        </p:spPr>
      </p:pic>
      <p:sp>
        <p:nvSpPr>
          <p:cNvPr id="12" name="AutoShape 12"/>
          <p:cNvSpPr/>
          <p:nvPr/>
        </p:nvSpPr>
        <p:spPr>
          <a:xfrm>
            <a:off x="9588500" y="2438400"/>
            <a:ext cx="165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Admin Controls</a:t>
            </a:r>
            <a:endParaRPr lang="en-US" sz="1100"/>
          </a:p>
        </p:txBody>
      </p:sp>
      <p:sp>
        <p:nvSpPr>
          <p:cNvPr id="13" name="AutoShape 13"/>
          <p:cNvSpPr/>
          <p:nvPr/>
        </p:nvSpPr>
        <p:spPr>
          <a:xfrm>
            <a:off x="9080500" y="3111500"/>
            <a:ext cx="215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D1D5DB"/>
                </a:solidFill>
                <a:latin typeface="Noto Sans SC"/>
                <a:ea typeface="Noto Sans SC"/>
                <a:cs typeface="Noto Sans SC"/>
                <a:sym typeface="Noto Sans SC"/>
              </a:rPr>
              <a:t>Supports administrators in centrally creating, managing, and deactivating user accounts for unified organizational account governance.</a:t>
            </a:r>
            <a:endParaRPr lang="en-US" sz="1100"/>
          </a:p>
        </p:txBody>
      </p:sp>
      <p:sp>
        <p:nvSpPr>
          <p:cNvPr id="14" name="AutoShape 14"/>
          <p:cNvSpPr/>
          <p:nvPr/>
        </p:nvSpPr>
        <p:spPr>
          <a:xfrm>
            <a:off x="6096000" y="4318000"/>
            <a:ext cx="2540000" cy="1778000"/>
          </a:xfrm>
          <a:prstGeom prst="roundRect">
            <a:avLst>
              <a:gd name="adj" fmla="val 5714"/>
            </a:avLst>
          </a:prstGeom>
          <a:solidFill>
            <a:srgbClr val="1F2937">
              <a:alpha val="90000"/>
            </a:srgbClr>
          </a:solidFill>
          <a:ln w="12700" cap="flat" cmpd="sng">
            <a:solidFill>
              <a:srgbClr val="22D3EE">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86500" y="4508500"/>
            <a:ext cx="355600" cy="355600"/>
          </a:xfrm>
          <a:prstGeom prst="rect">
            <a:avLst/>
          </a:prstGeom>
        </p:spPr>
      </p:pic>
      <p:sp>
        <p:nvSpPr>
          <p:cNvPr id="16" name="AutoShape 16"/>
          <p:cNvSpPr/>
          <p:nvPr/>
        </p:nvSpPr>
        <p:spPr>
          <a:xfrm>
            <a:off x="6794500" y="4470400"/>
            <a:ext cx="165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Dedicated API Keys</a:t>
            </a:r>
            <a:endParaRPr lang="en-US" sz="1100"/>
          </a:p>
        </p:txBody>
      </p:sp>
      <p:sp>
        <p:nvSpPr>
          <p:cNvPr id="17" name="AutoShape 17"/>
          <p:cNvSpPr/>
          <p:nvPr/>
        </p:nvSpPr>
        <p:spPr>
          <a:xfrm>
            <a:off x="6286500" y="5143500"/>
            <a:ext cx="215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D1D5DB"/>
                </a:solidFill>
                <a:latin typeface="Noto Sans SC"/>
                <a:ea typeface="Noto Sans SC"/>
                <a:cs typeface="Noto Sans SC"/>
                <a:sym typeface="Noto Sans SC"/>
              </a:rPr>
              <a:t>Agents access the knowledge base via dedicated API keys; once an account is deactivated, its key becomes immediately invalid, eliminating security risks.</a:t>
            </a:r>
            <a:endParaRPr lang="en-US" sz="1100"/>
          </a:p>
        </p:txBody>
      </p:sp>
      <p:sp>
        <p:nvSpPr>
          <p:cNvPr id="18" name="AutoShape 18"/>
          <p:cNvSpPr/>
          <p:nvPr/>
        </p:nvSpPr>
        <p:spPr>
          <a:xfrm>
            <a:off x="8890000" y="4318000"/>
            <a:ext cx="2540000" cy="1778000"/>
          </a:xfrm>
          <a:prstGeom prst="roundRect">
            <a:avLst>
              <a:gd name="adj" fmla="val 5714"/>
            </a:avLst>
          </a:prstGeom>
          <a:solidFill>
            <a:srgbClr val="1F2937">
              <a:alpha val="90000"/>
            </a:srgbClr>
          </a:solidFill>
          <a:ln w="12700" cap="flat" cmpd="sng">
            <a:solidFill>
              <a:srgbClr val="22D3EE">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80500" y="4508500"/>
            <a:ext cx="355600" cy="355600"/>
          </a:xfrm>
          <a:prstGeom prst="rect">
            <a:avLst/>
          </a:prstGeom>
        </p:spPr>
      </p:pic>
      <p:sp>
        <p:nvSpPr>
          <p:cNvPr id="20" name="AutoShape 20"/>
          <p:cNvSpPr/>
          <p:nvPr/>
        </p:nvSpPr>
        <p:spPr>
          <a:xfrm>
            <a:off x="9588500" y="4470400"/>
            <a:ext cx="165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Controlled Sharing</a:t>
            </a:r>
            <a:endParaRPr lang="en-US" sz="1100"/>
          </a:p>
        </p:txBody>
      </p:sp>
      <p:sp>
        <p:nvSpPr>
          <p:cNvPr id="21" name="AutoShape 21"/>
          <p:cNvSpPr/>
          <p:nvPr/>
        </p:nvSpPr>
        <p:spPr>
          <a:xfrm>
            <a:off x="9080500" y="5143500"/>
            <a:ext cx="215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D1D5DB"/>
                </a:solidFill>
                <a:latin typeface="Noto Sans SC"/>
                <a:ea typeface="Noto Sans SC"/>
                <a:cs typeface="Noto Sans SC"/>
                <a:sym typeface="Noto Sans SC"/>
              </a:rPr>
              <a:t>Supports generating share links for individual files, enabling secure, flexible, and controlled management of external collaboration content.</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Engine 5: Plug &amp; Play, Seamless Integration</a:t>
            </a:r>
            <a:endParaRPr lang="en-US" sz="1100"/>
          </a:p>
        </p:txBody>
      </p:sp>
      <p:sp>
        <p:nvSpPr>
          <p:cNvPr id="4" name="AutoShape 4"/>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D1D5DB"/>
                </a:solidFill>
                <a:latin typeface="Noto Sans SC"/>
                <a:ea typeface="Noto Sans SC"/>
                <a:cs typeface="Noto Sans SC"/>
                <a:sym typeface="Noto Sans SC"/>
              </a:rPr>
              <a:t>Ding uses standardized “Skill Packs” to easily empower all types of AI agents, bridging the connection between agents and the enterprise knowledge base.</a:t>
            </a:r>
            <a:endParaRPr lang="en-US" sz="1100"/>
          </a:p>
        </p:txBody>
      </p:sp>
      <p:sp>
        <p:nvSpPr>
          <p:cNvPr id="5" name="AutoShape 5"/>
          <p:cNvSpPr/>
          <p:nvPr/>
        </p:nvSpPr>
        <p:spPr>
          <a:xfrm>
            <a:off x="762000" y="2667000"/>
            <a:ext cx="3302000" cy="3429000"/>
          </a:xfrm>
          <a:prstGeom prst="roundRect">
            <a:avLst>
              <a:gd name="adj" fmla="val 4615"/>
            </a:avLst>
          </a:prstGeom>
          <a:solidFill>
            <a:srgbClr val="1E293B">
              <a:alpha val="90000"/>
            </a:srgbClr>
          </a:solidFill>
          <a:ln w="254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971800"/>
            <a:ext cx="558800" cy="558800"/>
          </a:xfrm>
          <a:prstGeom prst="rect">
            <a:avLst/>
          </a:prstGeom>
        </p:spPr>
      </p:pic>
      <p:sp>
        <p:nvSpPr>
          <p:cNvPr id="7" name="AutoShape 7"/>
          <p:cNvSpPr/>
          <p:nvPr/>
        </p:nvSpPr>
        <p:spPr>
          <a:xfrm>
            <a:off x="1778000" y="2971800"/>
            <a:ext cx="2032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Broad Compatibility</a:t>
            </a:r>
            <a:endParaRPr lang="en-US" sz="1100"/>
          </a:p>
        </p:txBody>
      </p:sp>
      <p:sp>
        <p:nvSpPr>
          <p:cNvPr id="8" name="AutoShape 8"/>
          <p:cNvSpPr/>
          <p:nvPr/>
        </p:nvSpPr>
        <p:spPr>
          <a:xfrm>
            <a:off x="1016000" y="3937000"/>
            <a:ext cx="2794000" cy="1905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In mainstream AI agents like OpenClaw, Hermes, and Claude Code, simply install Ding’s skill pack with one click to rapidly gain enterprise-grade knowledge management capabilities.</a:t>
            </a:r>
            <a:endParaRPr lang="en-US" sz="1100"/>
          </a:p>
        </p:txBody>
      </p:sp>
      <p:sp>
        <p:nvSpPr>
          <p:cNvPr id="9" name="AutoShape 9"/>
          <p:cNvSpPr/>
          <p:nvPr/>
        </p:nvSpPr>
        <p:spPr>
          <a:xfrm>
            <a:off x="4445000" y="2667000"/>
            <a:ext cx="3302000" cy="3429000"/>
          </a:xfrm>
          <a:prstGeom prst="roundRect">
            <a:avLst>
              <a:gd name="adj" fmla="val 4615"/>
            </a:avLst>
          </a:prstGeom>
          <a:solidFill>
            <a:srgbClr val="1E293B">
              <a:alpha val="90000"/>
            </a:srgbClr>
          </a:solidFill>
          <a:ln w="254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2971800"/>
            <a:ext cx="558800" cy="558800"/>
          </a:xfrm>
          <a:prstGeom prst="rect">
            <a:avLst/>
          </a:prstGeom>
        </p:spPr>
      </p:pic>
      <p:sp>
        <p:nvSpPr>
          <p:cNvPr id="11" name="AutoShape 11"/>
          <p:cNvSpPr/>
          <p:nvPr/>
        </p:nvSpPr>
        <p:spPr>
          <a:xfrm>
            <a:off x="5461000" y="2971800"/>
            <a:ext cx="2032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Standardized Operations</a:t>
            </a:r>
            <a:endParaRPr lang="en-US" sz="1100"/>
          </a:p>
        </p:txBody>
      </p:sp>
      <p:sp>
        <p:nvSpPr>
          <p:cNvPr id="12" name="AutoShape 12"/>
          <p:cNvSpPr/>
          <p:nvPr/>
        </p:nvSpPr>
        <p:spPr>
          <a:xfrm>
            <a:off x="4699000" y="3937000"/>
            <a:ext cx="2794000" cy="1905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Built-in standardized query and ingestion workflows ensure every agent call and response meets enterprise compliance standards, and </a:t>
            </a:r>
            <a:r>
              <a:rPr lang="en-US" sz="1400" b="1" i="0" u="none" strike="noStrike">
                <a:solidFill>
                  <a:srgbClr val="22D3EE"/>
                </a:solidFill>
                <a:latin typeface="Noto Sans SC"/>
                <a:ea typeface="Noto Sans SC"/>
                <a:cs typeface="Noto Sans SC"/>
                <a:sym typeface="Noto Sans SC"/>
              </a:rPr>
              <a:t>must return original source citations</a:t>
            </a:r>
            <a:r>
              <a:rPr lang="en-US" sz="1400" b="0" i="0" u="none" strike="noStrike">
                <a:solidFill>
                  <a:srgbClr val="E5E7EB">
                    <a:alpha val="90196"/>
                  </a:srgbClr>
                </a:solidFill>
                <a:latin typeface="Noto Sans SC"/>
                <a:ea typeface="Noto Sans SC"/>
                <a:cs typeface="Noto Sans SC"/>
                <a:sym typeface="Noto Sans SC"/>
              </a:rPr>
              <a:t> — eliminating hallucination risk.</a:t>
            </a:r>
            <a:endParaRPr lang="en-US" sz="1100"/>
          </a:p>
        </p:txBody>
      </p:sp>
      <p:sp>
        <p:nvSpPr>
          <p:cNvPr id="13" name="AutoShape 13"/>
          <p:cNvSpPr/>
          <p:nvPr/>
        </p:nvSpPr>
        <p:spPr>
          <a:xfrm>
            <a:off x="8128000" y="2667000"/>
            <a:ext cx="3302000" cy="3429000"/>
          </a:xfrm>
          <a:prstGeom prst="roundRect">
            <a:avLst>
              <a:gd name="adj" fmla="val 4615"/>
            </a:avLst>
          </a:prstGeom>
          <a:solidFill>
            <a:srgbClr val="1E293B">
              <a:alpha val="90000"/>
            </a:srgbClr>
          </a:solidFill>
          <a:ln w="254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32800" y="2971800"/>
            <a:ext cx="558800" cy="558800"/>
          </a:xfrm>
          <a:prstGeom prst="rect">
            <a:avLst/>
          </a:prstGeom>
        </p:spPr>
      </p:pic>
      <p:sp>
        <p:nvSpPr>
          <p:cNvPr id="15" name="AutoShape 15"/>
          <p:cNvSpPr/>
          <p:nvPr/>
        </p:nvSpPr>
        <p:spPr>
          <a:xfrm>
            <a:off x="9144000" y="2971800"/>
            <a:ext cx="2032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Focus on Core Tasks</a:t>
            </a:r>
            <a:endParaRPr lang="en-US" sz="1100"/>
          </a:p>
        </p:txBody>
      </p:sp>
      <p:sp>
        <p:nvSpPr>
          <p:cNvPr id="16" name="AutoShape 16"/>
          <p:cNvSpPr/>
          <p:nvPr/>
        </p:nvSpPr>
        <p:spPr>
          <a:xfrm>
            <a:off x="8382000" y="3937000"/>
            <a:ext cx="2794000" cy="1905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Let your AI agents return to their core purpose — focusing on business logic and task execution — while Ding handles all the underlying complexity of knowledge storage, updating, and maintenance.</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6400" b="1" i="0" u="none" strike="noStrike">
                <a:solidFill>
                  <a:srgbClr val="22D3EE"/>
                </a:solidFill>
                <a:latin typeface="Noto Sans SC"/>
                <a:ea typeface="Noto Sans SC"/>
                <a:cs typeface="Noto Sans SC"/>
                <a:sym typeface="Noto Sans SC"/>
              </a:rPr>
              <a:t>04</a:t>
            </a:r>
            <a:endParaRPr lang="en-US" sz="1100"/>
          </a:p>
        </p:txBody>
      </p:sp>
      <p:sp>
        <p:nvSpPr>
          <p:cNvPr id="4" name="AutoShape 4"/>
          <p:cNvSpPr/>
          <p:nvPr/>
        </p:nvSpPr>
        <p:spPr>
          <a:xfrm>
            <a:off x="2032000" y="685800"/>
            <a:ext cx="254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Application Scenarios</a:t>
            </a:r>
            <a:endParaRPr lang="en-US" sz="1100"/>
          </a:p>
        </p:txBody>
      </p:sp>
      <p:sp>
        <p:nvSpPr>
          <p:cNvPr id="5" name="AutoShape 5"/>
          <p:cNvSpPr/>
          <p:nvPr/>
        </p:nvSpPr>
        <p:spPr>
          <a:xfrm>
            <a:off x="762000" y="177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E2E8F0">
                    <a:alpha val="90196"/>
                  </a:srgbClr>
                </a:solidFill>
                <a:latin typeface="Noto Sans SC"/>
                <a:ea typeface="Noto Sans SC"/>
                <a:cs typeface="Noto Sans SC"/>
                <a:sym typeface="Noto Sans SC"/>
              </a:rPr>
              <a:t>Ding’s Real Business Value: From Point Efficiency to Enterprise-wide Digital Transformation</a:t>
            </a:r>
            <a:endParaRPr lang="en-US" sz="1100"/>
          </a:p>
        </p:txBody>
      </p:sp>
      <p:sp>
        <p:nvSpPr>
          <p:cNvPr id="6" name="AutoShape 6"/>
          <p:cNvSpPr/>
          <p:nvPr/>
        </p:nvSpPr>
        <p:spPr>
          <a:xfrm>
            <a:off x="762000" y="2794000"/>
            <a:ext cx="3302000" cy="3302000"/>
          </a:xfrm>
          <a:prstGeom prst="roundRect">
            <a:avLst>
              <a:gd name="adj" fmla="val 0"/>
            </a:avLst>
          </a:prstGeom>
          <a:solidFill>
            <a:srgbClr val="1E293B">
              <a:alpha val="90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2794000"/>
            <a:ext cx="3302000" cy="50800"/>
          </a:xfrm>
          <a:prstGeom prst="roundRect">
            <a:avLst>
              <a:gd name="adj" fmla="val 0"/>
            </a:avLst>
          </a:prstGeom>
          <a:solidFill>
            <a:srgbClr val="22D3E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3175000"/>
            <a:ext cx="558800" cy="558800"/>
          </a:xfrm>
          <a:prstGeom prst="rect">
            <a:avLst/>
          </a:prstGeom>
        </p:spPr>
      </p:pic>
      <p:sp>
        <p:nvSpPr>
          <p:cNvPr id="9" name="AutoShape 9"/>
          <p:cNvSpPr/>
          <p:nvPr/>
        </p:nvSpPr>
        <p:spPr>
          <a:xfrm>
            <a:off x="1841500" y="3200400"/>
            <a:ext cx="203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Organizational Collaboration &amp; Efficiency</a:t>
            </a:r>
            <a:endParaRPr lang="en-US" sz="1100"/>
          </a:p>
        </p:txBody>
      </p:sp>
      <p:sp>
        <p:nvSpPr>
          <p:cNvPr id="10" name="AutoShape 10"/>
          <p:cNvSpPr/>
          <p:nvPr/>
        </p:nvSpPr>
        <p:spPr>
          <a:xfrm>
            <a:off x="1016000" y="4191000"/>
            <a:ext cx="2794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CBD5E1">
                    <a:alpha val="85098"/>
                  </a:srgbClr>
                </a:solidFill>
                <a:latin typeface="Noto Sans SC"/>
                <a:ea typeface="Noto Sans SC"/>
                <a:cs typeface="Noto Sans SC"/>
                <a:sym typeface="Noto Sans SC"/>
              </a:rPr>
              <a:t>Break down traditional organizational silos through a unified digital foundation connecting internal and external stakeholders. Achieve efficient cross-department and cross-level collaboration with zero-latency information flow, dramatically reducing communication costs and improving organizational responsiveness.</a:t>
            </a:r>
            <a:endParaRPr lang="en-US" sz="1100"/>
          </a:p>
        </p:txBody>
      </p:sp>
      <p:sp>
        <p:nvSpPr>
          <p:cNvPr id="11" name="AutoShape 11"/>
          <p:cNvSpPr/>
          <p:nvPr/>
        </p:nvSpPr>
        <p:spPr>
          <a:xfrm>
            <a:off x="4445000" y="2794000"/>
            <a:ext cx="3302000" cy="3302000"/>
          </a:xfrm>
          <a:prstGeom prst="roundRect">
            <a:avLst>
              <a:gd name="adj" fmla="val 0"/>
            </a:avLst>
          </a:prstGeom>
          <a:solidFill>
            <a:srgbClr val="1E293B">
              <a:alpha val="90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445000" y="2794000"/>
            <a:ext cx="3302000" cy="50800"/>
          </a:xfrm>
          <a:prstGeom prst="roundRect">
            <a:avLst>
              <a:gd name="adj" fmla="val 0"/>
            </a:avLst>
          </a:prstGeom>
          <a:solidFill>
            <a:srgbClr val="22D3E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62500" y="3175000"/>
            <a:ext cx="558800" cy="558800"/>
          </a:xfrm>
          <a:prstGeom prst="rect">
            <a:avLst/>
          </a:prstGeom>
        </p:spPr>
      </p:pic>
      <p:sp>
        <p:nvSpPr>
          <p:cNvPr id="14" name="AutoShape 14"/>
          <p:cNvSpPr/>
          <p:nvPr/>
        </p:nvSpPr>
        <p:spPr>
          <a:xfrm>
            <a:off x="5524500" y="3200400"/>
            <a:ext cx="203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Business Process Automation</a:t>
            </a:r>
            <a:endParaRPr lang="en-US" sz="1100"/>
          </a:p>
        </p:txBody>
      </p:sp>
      <p:sp>
        <p:nvSpPr>
          <p:cNvPr id="15" name="AutoShape 15"/>
          <p:cNvSpPr/>
          <p:nvPr/>
        </p:nvSpPr>
        <p:spPr>
          <a:xfrm>
            <a:off x="4699000" y="4191000"/>
            <a:ext cx="2794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CBD5E1">
                    <a:alpha val="85098"/>
                  </a:srgbClr>
                </a:solidFill>
                <a:latin typeface="Noto Sans SC"/>
                <a:ea typeface="Noto Sans SC"/>
                <a:cs typeface="Noto Sans SC"/>
                <a:sym typeface="Noto Sans SC"/>
              </a:rPr>
              <a:t>Built-in low-code and AI capabilities automate repetitive, standardized business processes. From approval workflows and contract management to supply chain collaboration, reduce manual intervention across the board to cut costs and boost efficiency in critical business operations.</a:t>
            </a:r>
            <a:endParaRPr lang="en-US" sz="1100"/>
          </a:p>
        </p:txBody>
      </p:sp>
      <p:sp>
        <p:nvSpPr>
          <p:cNvPr id="16" name="AutoShape 16"/>
          <p:cNvSpPr/>
          <p:nvPr/>
        </p:nvSpPr>
        <p:spPr>
          <a:xfrm>
            <a:off x="8128000" y="2794000"/>
            <a:ext cx="3302000" cy="3302000"/>
          </a:xfrm>
          <a:prstGeom prst="roundRect">
            <a:avLst>
              <a:gd name="adj" fmla="val 0"/>
            </a:avLst>
          </a:prstGeom>
          <a:solidFill>
            <a:srgbClr val="1E293B">
              <a:alpha val="90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128000" y="2794000"/>
            <a:ext cx="3302000" cy="50800"/>
          </a:xfrm>
          <a:prstGeom prst="roundRect">
            <a:avLst>
              <a:gd name="adj" fmla="val 0"/>
            </a:avLst>
          </a:prstGeom>
          <a:solidFill>
            <a:srgbClr val="22D3E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45500" y="3175000"/>
            <a:ext cx="558800" cy="558800"/>
          </a:xfrm>
          <a:prstGeom prst="rect">
            <a:avLst/>
          </a:prstGeom>
        </p:spPr>
      </p:pic>
      <p:sp>
        <p:nvSpPr>
          <p:cNvPr id="19" name="AutoShape 19"/>
          <p:cNvSpPr/>
          <p:nvPr/>
        </p:nvSpPr>
        <p:spPr>
          <a:xfrm>
            <a:off x="9207500" y="3200400"/>
            <a:ext cx="203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Data-Driven Decision Making</a:t>
            </a:r>
            <a:endParaRPr lang="en-US" sz="1100"/>
          </a:p>
        </p:txBody>
      </p:sp>
      <p:sp>
        <p:nvSpPr>
          <p:cNvPr id="20" name="AutoShape 20"/>
          <p:cNvSpPr/>
          <p:nvPr/>
        </p:nvSpPr>
        <p:spPr>
          <a:xfrm>
            <a:off x="8382000" y="4191000"/>
            <a:ext cx="2794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CBD5E1">
                    <a:alpha val="85098"/>
                  </a:srgbClr>
                </a:solidFill>
                <a:latin typeface="Noto Sans SC"/>
                <a:ea typeface="Noto Sans SC"/>
                <a:cs typeface="Noto Sans SC"/>
                <a:sym typeface="Noto Sans SC"/>
              </a:rPr>
              <a:t>Break down internal data silos and build an integrated data cockpit. Aggregate and analyze full-chain business data in real time, presenting business dynamics through multi-dimensional visual charts to help managers make rapid, precise decisions.</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Scenario 1: R&amp;D &amp; Literature Management</a:t>
            </a:r>
            <a:endParaRPr lang="en-US" sz="1100"/>
          </a:p>
        </p:txBody>
      </p:sp>
      <p:pic>
        <p:nvPicPr>
          <p:cNvPr id="4" name="Picture 4"/>
          <p:cNvPicPr>
            <a:picLocks noChangeAspect="1"/>
          </p:cNvPicPr>
          <p:nvPr/>
        </p:nvPicPr>
        <p:blipFill>
          <a:blip r:embed="rId4"/>
          <a:srcRect l="16649" r="16649"/>
          <a:stretch>
            <a:fillRect/>
          </a:stretch>
        </p:blipFill>
        <p:spPr>
          <a:xfrm>
            <a:off x="762000" y="1651000"/>
            <a:ext cx="4572000" cy="4572000"/>
          </a:xfrm>
          <a:prstGeom prst="roundRect">
            <a:avLst>
              <a:gd name="adj" fmla="val 4444"/>
            </a:avLst>
          </a:prstGeom>
          <a:noFill/>
          <a:ln w="25400" cap="flat" cmpd="sng">
            <a:solidFill>
              <a:srgbClr val="22D3EE">
                <a:alpha val="6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5842000" y="1651000"/>
            <a:ext cx="5588000" cy="1397000"/>
          </a:xfrm>
          <a:prstGeom prst="roundRect">
            <a:avLst>
              <a:gd name="adj" fmla="val 10909"/>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6000" y="1905000"/>
            <a:ext cx="406400" cy="406400"/>
          </a:xfrm>
          <a:prstGeom prst="rect">
            <a:avLst/>
          </a:prstGeom>
        </p:spPr>
      </p:pic>
      <p:sp>
        <p:nvSpPr>
          <p:cNvPr id="7" name="AutoShape 7"/>
          <p:cNvSpPr/>
          <p:nvPr/>
        </p:nvSpPr>
        <p:spPr>
          <a:xfrm>
            <a:off x="6731000" y="18415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D3EE"/>
                </a:solidFill>
                <a:latin typeface="Noto Sans SC"/>
                <a:ea typeface="Noto Sans SC"/>
                <a:cs typeface="Noto Sans SC"/>
                <a:sym typeface="Noto Sans SC"/>
              </a:rPr>
              <a:t>Current Challenge: The Bottleneck of Knowledge Acquisition &amp; Alignment</a:t>
            </a:r>
            <a:endParaRPr lang="en-US" sz="1100"/>
          </a:p>
          <a:p>
            <a:pPr marL="0" indent="0" algn="l">
              <a:lnSpc>
                <a:spcPct val="108333"/>
              </a:lnSpc>
              <a:spcBef>
                <a:spcPts val="800"/>
              </a:spcBef>
            </a:pPr>
            <a:r>
              <a:rPr lang="en-US" sz="1300" b="0" i="0" u="none" strike="noStrike">
                <a:solidFill>
                  <a:srgbClr val="E5E7EB"/>
                </a:solidFill>
                <a:latin typeface="Noto Sans SC"/>
                <a:ea typeface="Noto Sans SC"/>
                <a:cs typeface="Noto Sans SC"/>
                <a:sym typeface="Noto Sans SC"/>
              </a:rPr>
              <a:t>R&amp;D personnel spend significant effort searching and reading literature; team knowledge is dispersed, making it difficult for newcomers to quickly grasp past research findings, leading to long onboarding cycles.</a:t>
            </a:r>
          </a:p>
        </p:txBody>
      </p:sp>
      <p:sp>
        <p:nvSpPr>
          <p:cNvPr id="8" name="AutoShape 8"/>
          <p:cNvSpPr/>
          <p:nvPr/>
        </p:nvSpPr>
        <p:spPr>
          <a:xfrm>
            <a:off x="5842000" y="3429000"/>
            <a:ext cx="5588000" cy="2794000"/>
          </a:xfrm>
          <a:prstGeom prst="roundRect">
            <a:avLst>
              <a:gd name="adj" fmla="val 5454"/>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96000" y="3683000"/>
            <a:ext cx="406400" cy="406400"/>
          </a:xfrm>
          <a:prstGeom prst="rect">
            <a:avLst/>
          </a:prstGeom>
        </p:spPr>
      </p:pic>
      <p:sp>
        <p:nvSpPr>
          <p:cNvPr id="10" name="AutoShape 10"/>
          <p:cNvSpPr/>
          <p:nvPr/>
        </p:nvSpPr>
        <p:spPr>
          <a:xfrm>
            <a:off x="6731000" y="3683000"/>
            <a:ext cx="4445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D3EE"/>
                </a:solidFill>
                <a:latin typeface="Noto Sans SC"/>
                <a:ea typeface="Noto Sans SC"/>
                <a:cs typeface="Noto Sans SC"/>
                <a:sym typeface="Noto Sans SC"/>
              </a:rPr>
              <a:t>Ding’s AI-Powered Solution</a:t>
            </a:r>
            <a:endParaRPr lang="en-US" sz="1100"/>
          </a:p>
          <a:p>
            <a:pPr marL="0" indent="0" algn="l">
              <a:lnSpc>
                <a:spcPct val="116666"/>
              </a:lnSpc>
              <a:spcBef>
                <a:spcPts val="1000"/>
              </a:spcBef>
            </a:pPr>
            <a:r>
              <a:rPr lang="en-US" sz="1300" b="0" i="0" u="none" strike="noStrike">
                <a:solidFill>
                  <a:srgbClr val="E5E7EB"/>
                </a:solidFill>
                <a:latin typeface="Noto Sans SC"/>
                <a:ea typeface="Noto Sans SC"/>
                <a:cs typeface="Noto Sans SC"/>
                <a:sym typeface="Noto Sans SC"/>
              </a:rPr>
              <a:t>1. R&amp;D staff discover literature through PubMed and other channels, directly submitting links or keywords to the AI agent.</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E5E7EB"/>
                </a:solidFill>
                <a:latin typeface="Noto Sans SC"/>
                <a:ea typeface="Noto Sans SC"/>
                <a:cs typeface="Noto Sans SC"/>
                <a:sym typeface="Noto Sans SC"/>
              </a:rPr>
              <a:t>2. The agent automatically handles </a:t>
            </a:r>
            <a:r>
              <a:rPr lang="en-US" sz="1300" b="1" i="0" u="none" strike="noStrike">
                <a:solidFill>
                  <a:srgbClr val="22D3EE"/>
                </a:solidFill>
                <a:latin typeface="Noto Sans SC"/>
                <a:ea typeface="Noto Sans SC"/>
                <a:cs typeface="Noto Sans SC"/>
                <a:sym typeface="Noto Sans SC"/>
              </a:rPr>
              <a:t>download, structured ingestion, key note extraction, auto-tagging, and index building</a:t>
            </a:r>
            <a:r>
              <a:rPr lang="en-US" sz="1300" b="0" i="0" u="none" strike="noStrike">
                <a:solidFill>
                  <a:srgbClr val="E5E7EB"/>
                </a:solidFill>
                <a:latin typeface="Noto Sans SC"/>
                <a:ea typeface="Noto Sans SC"/>
                <a:cs typeface="Noto Sans SC"/>
                <a:sym typeface="Noto Sans SC"/>
              </a:rPr>
              <a:t>.</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E5E7EB"/>
                </a:solidFill>
                <a:latin typeface="Noto Sans SC"/>
                <a:ea typeface="Noto Sans SC"/>
                <a:cs typeface="Noto Sans SC"/>
                <a:sym typeface="Noto Sans SC"/>
              </a:rPr>
              <a:t>3. Supports </a:t>
            </a:r>
            <a:r>
              <a:rPr lang="en-US" sz="1300" b="1" i="0" u="none" strike="noStrike">
                <a:solidFill>
                  <a:srgbClr val="E5E7EB"/>
                </a:solidFill>
                <a:latin typeface="Noto Sans SC"/>
                <a:ea typeface="Noto Sans SC"/>
                <a:cs typeface="Noto Sans SC"/>
                <a:sym typeface="Noto Sans SC"/>
              </a:rPr>
              <a:t>semantic search</a:t>
            </a:r>
            <a:r>
              <a:rPr lang="en-US" sz="1300" b="0" i="0" u="none" strike="noStrike">
                <a:solidFill>
                  <a:srgbClr val="E5E7EB"/>
                </a:solidFill>
                <a:latin typeface="Noto Sans SC"/>
                <a:ea typeface="Noto Sans SC"/>
                <a:cs typeface="Noto Sans SC"/>
                <a:sym typeface="Noto Sans SC"/>
              </a:rPr>
              <a:t> by topic, rapidly generating literature reviews with citations; newcomers can immediately learn through the unified knowledge base, accelerating alignment.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Scenario 2: Compliance &amp; Quality Management</a:t>
            </a:r>
            <a:endParaRPr lang="en-US" sz="1100"/>
          </a:p>
        </p:txBody>
      </p:sp>
      <p:pic>
        <p:nvPicPr>
          <p:cNvPr id="4" name="Picture 4"/>
          <p:cNvPicPr>
            <a:picLocks noChangeAspect="1"/>
          </p:cNvPicPr>
          <p:nvPr/>
        </p:nvPicPr>
        <p:blipFill>
          <a:blip r:embed="rId4"/>
          <a:srcRect l="10294" r="10294"/>
          <a:stretch>
            <a:fillRect/>
          </a:stretch>
        </p:blipFill>
        <p:spPr>
          <a:xfrm>
            <a:off x="762000" y="1778000"/>
            <a:ext cx="4572000" cy="4318000"/>
          </a:xfrm>
          <a:prstGeom prst="rect">
            <a:avLst/>
          </a:prstGeom>
          <a:noFill/>
          <a:ln w="25400" cap="flat" cmpd="sng">
            <a:solidFill>
              <a:srgbClr val="22D3EE">
                <a:alpha val="10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5842000" y="1778000"/>
            <a:ext cx="5588000" cy="1905000"/>
          </a:xfrm>
          <a:prstGeom prst="roundRect">
            <a:avLst>
              <a:gd name="adj" fmla="val 5333"/>
            </a:avLst>
          </a:prstGeom>
          <a:solidFill>
            <a:srgbClr val="1E293B">
              <a:alpha val="90000"/>
            </a:srgbClr>
          </a:solidFill>
          <a:ln w="12700" cap="flat" cmpd="sng">
            <a:solidFill>
              <a:srgbClr val="22D3EE">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6000" y="2032000"/>
            <a:ext cx="406400" cy="406400"/>
          </a:xfrm>
          <a:prstGeom prst="rect">
            <a:avLst/>
          </a:prstGeom>
        </p:spPr>
      </p:pic>
      <p:sp>
        <p:nvSpPr>
          <p:cNvPr id="7" name="AutoShape 7"/>
          <p:cNvSpPr/>
          <p:nvPr/>
        </p:nvSpPr>
        <p:spPr>
          <a:xfrm>
            <a:off x="6731000" y="2006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Compliance Pain Points: Numerous Standards, Difficult Traceability</a:t>
            </a:r>
            <a:endParaRPr lang="en-US" sz="1100"/>
          </a:p>
        </p:txBody>
      </p:sp>
      <p:sp>
        <p:nvSpPr>
          <p:cNvPr id="8" name="AutoShape 8"/>
          <p:cNvSpPr/>
          <p:nvPr/>
        </p:nvSpPr>
        <p:spPr>
          <a:xfrm>
            <a:off x="6096000" y="26670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E5E7EB"/>
                </a:solidFill>
                <a:latin typeface="Noto Sans SC"/>
                <a:ea typeface="Noto Sans SC"/>
                <a:cs typeface="Noto Sans SC"/>
                <a:sym typeface="Noto Sans SC"/>
              </a:rPr>
              <a:t>Internal regulations (SOPs) and product inspection standards are numerous and frequently updated. Employees struggle to quickly locate relevant clauses, and traditional manual Q&amp;A cannot provide traceable evidence — falling short of rigorous internal audit and compliance training requirements.</a:t>
            </a:r>
            <a:endParaRPr lang="en-US" sz="1100"/>
          </a:p>
        </p:txBody>
      </p:sp>
      <p:sp>
        <p:nvSpPr>
          <p:cNvPr id="9" name="AutoShape 9"/>
          <p:cNvSpPr/>
          <p:nvPr/>
        </p:nvSpPr>
        <p:spPr>
          <a:xfrm>
            <a:off x="5842000" y="3937000"/>
            <a:ext cx="5588000" cy="2413000"/>
          </a:xfrm>
          <a:prstGeom prst="roundRect">
            <a:avLst>
              <a:gd name="adj" fmla="val 4210"/>
            </a:avLst>
          </a:prstGeom>
          <a:solidFill>
            <a:srgbClr val="1E293B">
              <a:alpha val="90000"/>
            </a:srgbClr>
          </a:solidFill>
          <a:ln w="12700" cap="flat" cmpd="sng">
            <a:solidFill>
              <a:srgbClr val="22D3EE">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96000" y="4191000"/>
            <a:ext cx="406400" cy="406400"/>
          </a:xfrm>
          <a:prstGeom prst="rect">
            <a:avLst/>
          </a:prstGeom>
        </p:spPr>
      </p:pic>
      <p:sp>
        <p:nvSpPr>
          <p:cNvPr id="11" name="AutoShape 11"/>
          <p:cNvSpPr/>
          <p:nvPr/>
        </p:nvSpPr>
        <p:spPr>
          <a:xfrm>
            <a:off x="6731000" y="4165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D3EE"/>
                </a:solidFill>
                <a:latin typeface="Noto Sans SC"/>
                <a:ea typeface="Noto Sans SC"/>
                <a:cs typeface="Noto Sans SC"/>
                <a:sym typeface="Noto Sans SC"/>
              </a:rPr>
              <a:t>Ding’s AI-Powered Compliance Solution</a:t>
            </a:r>
            <a:endParaRPr lang="en-US" sz="1100"/>
          </a:p>
        </p:txBody>
      </p:sp>
      <p:sp>
        <p:nvSpPr>
          <p:cNvPr id="12" name="AutoShape 12"/>
          <p:cNvSpPr/>
          <p:nvPr/>
        </p:nvSpPr>
        <p:spPr>
          <a:xfrm>
            <a:off x="6096000" y="4826000"/>
            <a:ext cx="508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solidFill>
                <a:latin typeface="Noto Sans SC"/>
                <a:ea typeface="Noto Sans SC"/>
                <a:cs typeface="Noto Sans SC"/>
                <a:sym typeface="Noto Sans SC"/>
              </a:rPr>
              <a:t>• Centralized Management: All internal regulations, SOPs, and standards documents are uploaded to the Ding platform, building a structured compliance knowledge base.</a:t>
            </a:r>
            <a:endParaRPr lang="en-US" sz="1100"/>
          </a:p>
          <a:p>
            <a:pPr marL="0" indent="0" algn="l">
              <a:lnSpc>
                <a:spcPct val="125000"/>
              </a:lnSpc>
            </a:pPr>
            <a:r>
              <a:rPr lang="en-US" sz="1300" b="0" i="0" u="none" strike="noStrike">
                <a:solidFill>
                  <a:srgbClr val="FFFFFF"/>
                </a:solidFill>
                <a:latin typeface="Noto Sans SC"/>
                <a:ea typeface="Noto Sans SC"/>
                <a:cs typeface="Noto Sans SC"/>
                <a:sym typeface="Noto Sans SC"/>
              </a:rPr>
              <a:t>• Semantic Query: Employees use natural language through AI agents to ask precise questions, e.g., “Look up Product A inspection standard, Section 3.2.”</a:t>
            </a:r>
          </a:p>
          <a:p>
            <a:pPr marL="0" indent="0" algn="l">
              <a:lnSpc>
                <a:spcPct val="125000"/>
              </a:lnSpc>
            </a:pPr>
            <a:r>
              <a:rPr lang="en-US" sz="1300" b="0" i="0" u="none" strike="noStrike">
                <a:solidFill>
                  <a:srgbClr val="FFFFFF"/>
                </a:solidFill>
                <a:latin typeface="Noto Sans SC"/>
                <a:ea typeface="Noto Sans SC"/>
                <a:cs typeface="Noto Sans SC"/>
                <a:sym typeface="Noto Sans SC"/>
              </a:rPr>
              <a:t>• Fully Traceable: AI answers are directly linked to </a:t>
            </a:r>
            <a:r>
              <a:rPr lang="en-US" sz="1300" b="1" i="0" u="none" strike="noStrike">
                <a:solidFill>
                  <a:srgbClr val="22D3EE"/>
                </a:solidFill>
                <a:latin typeface="Noto Sans SC"/>
                <a:ea typeface="Noto Sans SC"/>
                <a:cs typeface="Noto Sans SC"/>
                <a:sym typeface="Noto Sans SC"/>
              </a:rPr>
              <a:t>specific file names and original text passages</a:t>
            </a:r>
            <a:r>
              <a:rPr lang="en-US" sz="1300" b="0" i="0" u="none" strike="noStrike">
                <a:solidFill>
                  <a:srgbClr val="FFFFFF"/>
                </a:solidFill>
                <a:latin typeface="Noto Sans SC"/>
                <a:ea typeface="Noto Sans SC"/>
                <a:cs typeface="Noto Sans SC"/>
                <a:sym typeface="Noto Sans SC"/>
              </a:rPr>
              <a:t>, ensuring answers are accurate and traceable — confidently ready for audits.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Scenario 3: Continuous Team Knowledge Accumulation</a:t>
            </a:r>
            <a:endParaRPr lang="en-US" sz="1100"/>
          </a:p>
        </p:txBody>
      </p:sp>
      <p:sp>
        <p:nvSpPr>
          <p:cNvPr id="4" name="AutoShape 4"/>
          <p:cNvSpPr/>
          <p:nvPr/>
        </p:nvSpPr>
        <p:spPr>
          <a:xfrm>
            <a:off x="762000" y="1650999"/>
            <a:ext cx="5207000" cy="2442535"/>
          </a:xfrm>
          <a:prstGeom prst="roundRect">
            <a:avLst>
              <a:gd name="adj" fmla="val 8571"/>
            </a:avLst>
          </a:prstGeom>
          <a:solidFill>
            <a:srgbClr val="1E293B">
              <a:alpha val="90000"/>
            </a:srgbClr>
          </a:solidFill>
          <a:ln w="12700" cap="flat" cmpd="sng">
            <a:solidFill>
              <a:srgbClr val="22D3EE">
                <a:alpha val="4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355600" cy="355600"/>
          </a:xfrm>
          <a:prstGeom prst="rect">
            <a:avLst/>
          </a:prstGeom>
        </p:spPr>
      </p:pic>
      <p:sp>
        <p:nvSpPr>
          <p:cNvPr id="6" name="AutoShape 6"/>
          <p:cNvSpPr/>
          <p:nvPr/>
        </p:nvSpPr>
        <p:spPr>
          <a:xfrm>
            <a:off x="1524000" y="18796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Current Challenge: Knowledge Silos &amp; Loss</a:t>
            </a:r>
            <a:endParaRPr lang="en-US" sz="1100"/>
          </a:p>
        </p:txBody>
      </p:sp>
      <p:sp>
        <p:nvSpPr>
          <p:cNvPr id="7" name="AutoShape 7"/>
          <p:cNvSpPr/>
          <p:nvPr/>
        </p:nvSpPr>
        <p:spPr>
          <a:xfrm>
            <a:off x="1016000" y="2539999"/>
            <a:ext cx="4699000" cy="1287721"/>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D1D5DB"/>
                </a:solidFill>
                <a:latin typeface="Noto Sans SC"/>
                <a:ea typeface="Noto Sans SC"/>
                <a:cs typeface="Noto Sans SC"/>
                <a:sym typeface="Noto Sans SC"/>
              </a:rPr>
              <a:t>Team members maintain their own notes and materials without a unified aggregation mechanism, causing valuable experience and knowledge to be lost after project completion — never converted into organizational memory.</a:t>
            </a:r>
            <a:endParaRPr lang="en-US" sz="1100"/>
          </a:p>
        </p:txBody>
      </p:sp>
      <p:grpSp>
        <p:nvGrpSpPr>
          <p:cNvPr id="13" name="组合 12">
            <a:extLst>
              <a:ext uri="{FF2B5EF4-FFF2-40B4-BE49-F238E27FC236}">
                <a16:creationId xmlns:a16="http://schemas.microsoft.com/office/drawing/2014/main" id="{CC7CB157-93E6-2BF3-21D6-DDE61F22FB9A}"/>
              </a:ext>
            </a:extLst>
          </p:cNvPr>
          <p:cNvGrpSpPr/>
          <p:nvPr/>
        </p:nvGrpSpPr>
        <p:grpSpPr>
          <a:xfrm>
            <a:off x="6365358" y="2260600"/>
            <a:ext cx="5207000" cy="4089400"/>
            <a:chOff x="6365358" y="3683000"/>
            <a:chExt cx="5207000" cy="2667000"/>
          </a:xfrm>
        </p:grpSpPr>
        <p:sp>
          <p:nvSpPr>
            <p:cNvPr id="8" name="AutoShape 8"/>
            <p:cNvSpPr/>
            <p:nvPr/>
          </p:nvSpPr>
          <p:spPr>
            <a:xfrm>
              <a:off x="6365358" y="3683000"/>
              <a:ext cx="5207000" cy="2667000"/>
            </a:xfrm>
            <a:prstGeom prst="roundRect">
              <a:avLst>
                <a:gd name="adj" fmla="val 5714"/>
              </a:avLst>
            </a:prstGeom>
            <a:solidFill>
              <a:srgbClr val="1E293B">
                <a:alpha val="90000"/>
              </a:srgbClr>
            </a:solidFill>
            <a:ln w="12700" cap="flat" cmpd="sng">
              <a:solidFill>
                <a:srgbClr val="22D3EE">
                  <a:alpha val="4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19358" y="3937000"/>
              <a:ext cx="355600" cy="355600"/>
            </a:xfrm>
            <a:prstGeom prst="rect">
              <a:avLst/>
            </a:prstGeom>
          </p:spPr>
        </p:pic>
        <p:sp>
          <p:nvSpPr>
            <p:cNvPr id="10" name="AutoShape 10"/>
            <p:cNvSpPr/>
            <p:nvPr/>
          </p:nvSpPr>
          <p:spPr>
            <a:xfrm>
              <a:off x="7127358" y="39116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D3EE"/>
                  </a:solidFill>
                  <a:latin typeface="Noto Sans SC"/>
                  <a:ea typeface="Noto Sans SC"/>
                  <a:cs typeface="Noto Sans SC"/>
                  <a:sym typeface="Noto Sans SC"/>
                </a:rPr>
                <a:t>Ding’s Solution: Building a Living Knowledge Network</a:t>
              </a:r>
              <a:endParaRPr lang="en-US" sz="1100"/>
            </a:p>
          </p:txBody>
        </p:sp>
        <p:sp>
          <p:nvSpPr>
            <p:cNvPr id="11" name="AutoShape 11"/>
            <p:cNvSpPr/>
            <p:nvPr/>
          </p:nvSpPr>
          <p:spPr>
            <a:xfrm>
              <a:off x="6619358" y="4572000"/>
              <a:ext cx="4699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300" b="0" i="0" u="none" strike="noStrike">
                  <a:solidFill>
                    <a:srgbClr val="E5E7EB"/>
                  </a:solidFill>
                  <a:latin typeface="Noto Sans SC"/>
                  <a:ea typeface="Noto Sans SC"/>
                  <a:cs typeface="Noto Sans SC"/>
                  <a:sym typeface="Noto Sans SC"/>
                </a:rPr>
                <a:t>1. </a:t>
              </a:r>
              <a:r>
                <a:rPr lang="en-US" sz="1300" b="1" i="0" u="none" strike="noStrike">
                  <a:solidFill>
                    <a:srgbClr val="E5E7EB"/>
                  </a:solidFill>
                  <a:latin typeface="Noto Sans SC"/>
                  <a:ea typeface="Noto Sans SC"/>
                  <a:cs typeface="Noto Sans SC"/>
                  <a:sym typeface="Noto Sans SC"/>
                </a:rPr>
                <a:t>Collective Knowledge Building: </a:t>
              </a:r>
              <a:r>
                <a:rPr lang="en-US" sz="1300" b="0" i="0" u="none" strike="noStrike">
                  <a:solidFill>
                    <a:srgbClr val="E5E7EB"/>
                  </a:solidFill>
                  <a:latin typeface="Noto Sans SC"/>
                  <a:ea typeface="Noto Sans SC"/>
                  <a:cs typeface="Noto Sans SC"/>
                  <a:sym typeface="Noto Sans SC"/>
                </a:rPr>
                <a:t>Each member consolidates project documents, meeting minutes, and learning insights into the unified knowledge base.</a:t>
              </a:r>
              <a:endParaRPr lang="en-US" sz="1100"/>
            </a:p>
            <a:p>
              <a:pPr marL="0" indent="0" algn="l">
                <a:lnSpc>
                  <a:spcPct val="133333"/>
                </a:lnSpc>
              </a:pPr>
              <a:r>
                <a:rPr lang="en-US" sz="1300" b="0" i="0" u="none" strike="noStrike">
                  <a:solidFill>
                    <a:srgbClr val="E5E7EB"/>
                  </a:solidFill>
                  <a:latin typeface="Noto Sans SC"/>
                  <a:ea typeface="Noto Sans SC"/>
                  <a:cs typeface="Noto Sans SC"/>
                  <a:sym typeface="Noto Sans SC"/>
                </a:rPr>
                <a:t>2. </a:t>
              </a:r>
              <a:r>
                <a:rPr lang="en-US" sz="1300" b="1" i="0" u="none" strike="noStrike">
                  <a:solidFill>
                    <a:srgbClr val="E5E7EB"/>
                  </a:solidFill>
                  <a:latin typeface="Noto Sans SC"/>
                  <a:ea typeface="Noto Sans SC"/>
                  <a:cs typeface="Noto Sans SC"/>
                  <a:sym typeface="Noto Sans SC"/>
                </a:rPr>
                <a:t>AI-Powered Evolution: </a:t>
              </a:r>
              <a:r>
                <a:rPr lang="en-US" sz="1300" b="0" i="0" u="none" strike="noStrike">
                  <a:solidFill>
                    <a:srgbClr val="E5E7EB"/>
                  </a:solidFill>
                  <a:latin typeface="Noto Sans SC"/>
                  <a:ea typeface="Noto Sans SC"/>
                  <a:cs typeface="Noto Sans SC"/>
                  <a:sym typeface="Noto Sans SC"/>
                </a:rPr>
                <a:t>AI agents continuously </a:t>
              </a:r>
              <a:r>
                <a:rPr lang="en-US" sz="1300" b="0" i="0" u="none" strike="noStrike">
                  <a:solidFill>
                    <a:srgbClr val="22D3EE"/>
                  </a:solidFill>
                  <a:latin typeface="Noto Sans SC"/>
                  <a:ea typeface="Noto Sans SC"/>
                  <a:cs typeface="Noto Sans SC"/>
                  <a:sym typeface="Noto Sans SC"/>
                </a:rPr>
                <a:t>auto-tag, generate summaries, and link similar content</a:t>
              </a:r>
              <a:r>
                <a:rPr lang="en-US" sz="1300" b="0" i="0" u="none" strike="noStrike">
                  <a:solidFill>
                    <a:srgbClr val="E5E7EB"/>
                  </a:solidFill>
                  <a:latin typeface="Noto Sans SC"/>
                  <a:ea typeface="Noto Sans SC"/>
                  <a:cs typeface="Noto Sans SC"/>
                  <a:sym typeface="Noto Sans SC"/>
                </a:rPr>
                <a:t> for materials, making knowledge continuously appreciate in value.</a:t>
              </a:r>
            </a:p>
            <a:p>
              <a:pPr marL="0" indent="0" algn="l">
                <a:lnSpc>
                  <a:spcPct val="133333"/>
                </a:lnSpc>
              </a:pPr>
              <a:r>
                <a:rPr lang="en-US" sz="1300" b="0" i="0" u="none" strike="noStrike">
                  <a:solidFill>
                    <a:srgbClr val="E5E7EB"/>
                  </a:solidFill>
                  <a:latin typeface="Noto Sans SC"/>
                  <a:ea typeface="Noto Sans SC"/>
                  <a:cs typeface="Noto Sans SC"/>
                  <a:sym typeface="Noto Sans SC"/>
                </a:rPr>
                <a:t>3. </a:t>
              </a:r>
              <a:r>
                <a:rPr lang="en-US" sz="1300" b="1" i="0" u="none" strike="noStrike">
                  <a:solidFill>
                    <a:srgbClr val="E5E7EB"/>
                  </a:solidFill>
                  <a:latin typeface="Noto Sans SC"/>
                  <a:ea typeface="Noto Sans SC"/>
                  <a:cs typeface="Noto Sans SC"/>
                  <a:sym typeface="Noto Sans SC"/>
                </a:rPr>
                <a:t>Building Organizational Memory: </a:t>
              </a:r>
              <a:r>
                <a:rPr lang="en-US" sz="1300" b="0" i="0" u="none" strike="noStrike">
                  <a:solidFill>
                    <a:srgbClr val="E5E7EB"/>
                  </a:solidFill>
                  <a:latin typeface="Noto Sans SC"/>
                  <a:ea typeface="Noto Sans SC"/>
                  <a:cs typeface="Noto Sans SC"/>
                  <a:sym typeface="Noto Sans SC"/>
                </a:rPr>
                <a:t>Scattered personal knowledge coalesces into a </a:t>
              </a:r>
              <a:r>
                <a:rPr lang="en-US" sz="1300" b="0" i="0" u="none" strike="noStrike">
                  <a:solidFill>
                    <a:srgbClr val="22D3EE"/>
                  </a:solidFill>
                  <a:latin typeface="Noto Sans SC"/>
                  <a:ea typeface="Noto Sans SC"/>
                  <a:cs typeface="Noto Sans SC"/>
                  <a:sym typeface="Noto Sans SC"/>
                </a:rPr>
                <a:t>searchable, navigable, continuously growing</a:t>
              </a:r>
              <a:r>
                <a:rPr lang="en-US" sz="1300" b="0" i="0" u="none" strike="noStrike">
                  <a:solidFill>
                    <a:srgbClr val="E5E7EB"/>
                  </a:solidFill>
                  <a:latin typeface="Noto Sans SC"/>
                  <a:ea typeface="Noto Sans SC"/>
                  <a:cs typeface="Noto Sans SC"/>
                  <a:sym typeface="Noto Sans SC"/>
                </a:rPr>
                <a:t> team knowledge network — becoming the enterprise’s most valuable core asset.</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778000"/>
            <a:ext cx="2032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9600" b="1" i="0" u="none" strike="noStrike">
                <a:solidFill>
                  <a:srgbClr val="22D3EE"/>
                </a:solidFill>
                <a:latin typeface="Noto Sans SC"/>
                <a:ea typeface="Noto Sans SC"/>
                <a:cs typeface="Noto Sans SC"/>
                <a:sym typeface="Noto Sans SC"/>
              </a:rPr>
              <a:t>05</a:t>
            </a:r>
            <a:endParaRPr lang="en-US" sz="1100"/>
          </a:p>
        </p:txBody>
      </p:sp>
      <p:sp>
        <p:nvSpPr>
          <p:cNvPr id="4" name="AutoShape 4"/>
          <p:cNvSpPr/>
          <p:nvPr/>
        </p:nvSpPr>
        <p:spPr>
          <a:xfrm>
            <a:off x="2921000" y="1968500"/>
            <a:ext cx="850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5200" b="1" i="0" u="none" strike="noStrike">
                <a:solidFill>
                  <a:srgbClr val="FFFFFF"/>
                </a:solidFill>
                <a:latin typeface="Noto Sans SC"/>
                <a:ea typeface="Noto Sans SC"/>
                <a:cs typeface="Noto Sans SC"/>
                <a:sym typeface="Noto Sans SC"/>
              </a:rPr>
              <a:t>Summary &amp; Outlook</a:t>
            </a:r>
            <a:endParaRPr lang="en-US" sz="1100"/>
          </a:p>
        </p:txBody>
      </p:sp>
      <p:sp>
        <p:nvSpPr>
          <p:cNvPr id="5" name="AutoShape 5"/>
          <p:cNvSpPr/>
          <p:nvPr/>
        </p:nvSpPr>
        <p:spPr>
          <a:xfrm>
            <a:off x="762000" y="3683000"/>
            <a:ext cx="1016000" cy="76200"/>
          </a:xfrm>
          <a:prstGeom prst="roundRect">
            <a:avLst>
              <a:gd name="adj" fmla="val 0"/>
            </a:avLst>
          </a:prstGeom>
          <a:solidFill>
            <a:srgbClr val="22D3E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444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spc="200">
                <a:solidFill>
                  <a:srgbClr val="FFFFFF">
                    <a:alpha val="90196"/>
                  </a:srgbClr>
                </a:solidFill>
                <a:latin typeface="Noto Sans SC"/>
                <a:ea typeface="Noto Sans SC"/>
                <a:cs typeface="Noto Sans SC"/>
                <a:sym typeface="Noto Sans SC"/>
              </a:rPr>
              <a:t>Begin Your Knowledge Evolution Journey</a:t>
            </a:r>
            <a:endParaRPr lang="en-US" sz="1100"/>
          </a:p>
        </p:txBody>
      </p:sp>
      <p:sp>
        <p:nvSpPr>
          <p:cNvPr id="7" name="AutoShape 7"/>
          <p:cNvSpPr/>
          <p:nvPr/>
        </p:nvSpPr>
        <p:spPr>
          <a:xfrm>
            <a:off x="762000" y="55880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spc="400">
                <a:solidFill>
                  <a:srgbClr val="FFFFFF">
                    <a:alpha val="50196"/>
                  </a:srgbClr>
                </a:solidFill>
                <a:latin typeface="Noto Sans SC"/>
                <a:ea typeface="Noto Sans SC"/>
                <a:cs typeface="Noto Sans SC"/>
                <a:sym typeface="Noto Sans SC"/>
              </a:rPr>
              <a:t>KNOWLEDGE EVOLUTION JOURNEY</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Understanding Ding in Three Sentences</a:t>
            </a:r>
            <a:endParaRPr lang="en-US" sz="1100"/>
          </a:p>
        </p:txBody>
      </p:sp>
      <p:sp>
        <p:nvSpPr>
          <p:cNvPr id="4" name="AutoShape 4"/>
          <p:cNvSpPr/>
          <p:nvPr/>
        </p:nvSpPr>
        <p:spPr>
          <a:xfrm>
            <a:off x="762000" y="1778000"/>
            <a:ext cx="3302000" cy="4318000"/>
          </a:xfrm>
          <a:prstGeom prst="roundRect">
            <a:avLst>
              <a:gd name="adj" fmla="val 4615"/>
            </a:avLst>
          </a:prstGeom>
          <a:solidFill>
            <a:srgbClr val="1E293B">
              <a:alpha val="90000"/>
            </a:srgbClr>
          </a:solidFill>
          <a:ln w="12700" cap="flat" cmpd="sng">
            <a:solidFill>
              <a:srgbClr val="22D3EE">
                <a:alpha val="5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82800"/>
            <a:ext cx="508000" cy="508000"/>
          </a:xfrm>
          <a:prstGeom prst="rect">
            <a:avLst/>
          </a:prstGeom>
        </p:spPr>
      </p:pic>
      <p:sp>
        <p:nvSpPr>
          <p:cNvPr id="6" name="AutoShape 6"/>
          <p:cNvSpPr/>
          <p:nvPr/>
        </p:nvSpPr>
        <p:spPr>
          <a:xfrm>
            <a:off x="1651000" y="2082800"/>
            <a:ext cx="215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01 Theoretical Foundation</a:t>
            </a:r>
            <a:endParaRPr lang="en-US" sz="1100"/>
          </a:p>
        </p:txBody>
      </p:sp>
      <p:sp>
        <p:nvSpPr>
          <p:cNvPr id="7" name="AutoShape 7"/>
          <p:cNvSpPr/>
          <p:nvPr/>
        </p:nvSpPr>
        <p:spPr>
          <a:xfrm>
            <a:off x="1016000" y="2794000"/>
            <a:ext cx="2794000" cy="25400"/>
          </a:xfrm>
          <a:prstGeom prst="roundRect">
            <a:avLst>
              <a:gd name="adj" fmla="val 0"/>
            </a:avLst>
          </a:prstGeom>
          <a:solidFill>
            <a:srgbClr val="22D3EE">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3175000"/>
            <a:ext cx="2794000" cy="24130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sz="1400" b="0" i="0" u="none" strike="noStrike">
                <a:solidFill>
                  <a:srgbClr val="E5E7EB"/>
                </a:solidFill>
                <a:latin typeface="Noto Sans SC"/>
                <a:ea typeface="Noto Sans SC"/>
                <a:cs typeface="Noto Sans SC"/>
                <a:sym typeface="Noto Sans SC"/>
              </a:rPr>
              <a:t>Ding is the commercial practitioner of </a:t>
            </a:r>
            <a:r>
              <a:rPr lang="en-US" sz="1400" b="1" i="0" u="none" strike="noStrike">
                <a:solidFill>
                  <a:srgbClr val="22D3EE"/>
                </a:solidFill>
                <a:latin typeface="Noto Sans SC"/>
                <a:ea typeface="Noto Sans SC"/>
                <a:cs typeface="Noto Sans SC"/>
                <a:sym typeface="Noto Sans SC"/>
              </a:rPr>
              <a:t>Karpathy’s LLM-Wiki theory</a:t>
            </a:r>
            <a:r>
              <a:rPr lang="en-US" sz="1400" b="0" i="0" u="none" strike="noStrike">
                <a:solidFill>
                  <a:srgbClr val="E5E7EB"/>
                </a:solidFill>
                <a:latin typeface="Noto Sans SC"/>
                <a:ea typeface="Noto Sans SC"/>
                <a:cs typeface="Noto Sans SC"/>
                <a:sym typeface="Noto Sans SC"/>
              </a:rPr>
              <a:t>, dedicated to driving enterprise knowledge assets through the revolutionary evolution from </a:t>
            </a:r>
            <a:endParaRPr lang="en-US" sz="1100"/>
          </a:p>
          <a:p>
            <a:pPr marL="0" indent="0" algn="ctr">
              <a:lnSpc>
                <a:spcPct val="133333"/>
              </a:lnSpc>
            </a:pPr>
            <a:r>
              <a:rPr lang="en-US" sz="1500" b="1" i="0" u="none" strike="noStrike">
                <a:solidFill>
                  <a:srgbClr val="FBBF24"/>
                </a:solidFill>
                <a:latin typeface="Noto Sans SC"/>
                <a:ea typeface="Noto Sans SC"/>
                <a:cs typeface="Noto Sans SC"/>
                <a:sym typeface="Noto Sans SC"/>
              </a:rPr>
              <a:t>Data Library → Knowledge Base → Decision Hub</a:t>
            </a:r>
          </a:p>
          <a:p>
            <a:pPr marL="0" indent="0" algn="l">
              <a:lnSpc>
                <a:spcPct val="133333"/>
              </a:lnSpc>
            </a:pPr>
            <a:r>
              <a:rPr lang="en-US" sz="1400" b="0" i="0" u="none" strike="noStrike">
                <a:solidFill>
                  <a:srgbClr val="E5E7EB"/>
                </a:solidFill>
                <a:latin typeface="Noto Sans SC"/>
                <a:ea typeface="Noto Sans SC"/>
                <a:cs typeface="Noto Sans SC"/>
                <a:sym typeface="Noto Sans SC"/>
              </a:rPr>
              <a:t> — enabling data to truly drive business decisions.</a:t>
            </a:r>
          </a:p>
        </p:txBody>
      </p:sp>
      <p:sp>
        <p:nvSpPr>
          <p:cNvPr id="9" name="AutoShape 9"/>
          <p:cNvSpPr/>
          <p:nvPr/>
        </p:nvSpPr>
        <p:spPr>
          <a:xfrm>
            <a:off x="4445000" y="1778000"/>
            <a:ext cx="3302000" cy="4318000"/>
          </a:xfrm>
          <a:prstGeom prst="roundRect">
            <a:avLst>
              <a:gd name="adj" fmla="val 4615"/>
            </a:avLst>
          </a:prstGeom>
          <a:solidFill>
            <a:srgbClr val="1E293B">
              <a:alpha val="90000"/>
            </a:srgbClr>
          </a:solidFill>
          <a:ln w="12700" cap="flat" cmpd="sng">
            <a:solidFill>
              <a:srgbClr val="22D3EE">
                <a:alpha val="5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082800"/>
            <a:ext cx="508000" cy="508000"/>
          </a:xfrm>
          <a:prstGeom prst="rect">
            <a:avLst/>
          </a:prstGeom>
        </p:spPr>
      </p:pic>
      <p:sp>
        <p:nvSpPr>
          <p:cNvPr id="11" name="AutoShape 11"/>
          <p:cNvSpPr/>
          <p:nvPr/>
        </p:nvSpPr>
        <p:spPr>
          <a:xfrm>
            <a:off x="5334000" y="2082800"/>
            <a:ext cx="215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02 The Right Partner</a:t>
            </a:r>
            <a:endParaRPr lang="en-US" sz="1100"/>
          </a:p>
        </p:txBody>
      </p:sp>
      <p:sp>
        <p:nvSpPr>
          <p:cNvPr id="12" name="AutoShape 12"/>
          <p:cNvSpPr/>
          <p:nvPr/>
        </p:nvSpPr>
        <p:spPr>
          <a:xfrm>
            <a:off x="4699000" y="2794000"/>
            <a:ext cx="2794000" cy="25400"/>
          </a:xfrm>
          <a:prstGeom prst="roundRect">
            <a:avLst>
              <a:gd name="adj" fmla="val 0"/>
            </a:avLst>
          </a:prstGeom>
          <a:solidFill>
            <a:srgbClr val="22D3EE">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699000" y="3175000"/>
            <a:ext cx="2794000" cy="24130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sz="1400" b="0" i="0" u="none" strike="noStrike">
                <a:solidFill>
                  <a:srgbClr val="E5E7EB"/>
                </a:solidFill>
                <a:latin typeface="Noto Sans SC"/>
                <a:ea typeface="Noto Sans SC"/>
                <a:cs typeface="Noto Sans SC"/>
                <a:sym typeface="Noto Sans SC"/>
              </a:rPr>
              <a:t>Ding’s best partner is a standards-capable AI agent: </a:t>
            </a:r>
            <a:endParaRPr lang="en-US" sz="1100"/>
          </a:p>
          <a:p>
            <a:pPr marL="0" indent="0" algn="ctr">
              <a:lnSpc>
                <a:spcPct val="133333"/>
              </a:lnSpc>
            </a:pPr>
            <a:r>
              <a:rPr lang="en-US" sz="1400" b="1" i="0" u="none" strike="noStrike">
                <a:solidFill>
                  <a:srgbClr val="22D3EE"/>
                </a:solidFill>
                <a:latin typeface="Noto Sans SC"/>
                <a:ea typeface="Noto Sans SC"/>
                <a:cs typeface="Noto Sans SC"/>
                <a:sym typeface="Noto Sans SC"/>
              </a:rPr>
              <a:t>AI agents supporting standard Skills</a:t>
            </a:r>
          </a:p>
          <a:p>
            <a:pPr marL="0" indent="0" algn="ctr">
              <a:lnSpc>
                <a:spcPct val="133333"/>
              </a:lnSpc>
            </a:pPr>
            <a:r>
              <a:rPr lang="en-US" sz="1300" b="0" i="0" u="none" strike="noStrike">
                <a:solidFill>
                  <a:srgbClr val="9CA3AF"/>
                </a:solidFill>
                <a:latin typeface="Noto Sans SC"/>
                <a:ea typeface="Noto Sans SC"/>
                <a:cs typeface="Noto Sans SC"/>
                <a:sym typeface="Noto Sans SC"/>
              </a:rPr>
              <a:t> (e.g., OpenClaw, Hermes, etc.)</a:t>
            </a:r>
          </a:p>
          <a:p>
            <a:pPr marL="0" indent="0" algn="l">
              <a:lnSpc>
                <a:spcPct val="133333"/>
              </a:lnSpc>
            </a:pPr>
            <a:r>
              <a:rPr lang="en-US" sz="1400" b="1" i="0" u="none" strike="noStrike">
                <a:solidFill>
                  <a:srgbClr val="F87171"/>
                </a:solidFill>
                <a:latin typeface="Noto Sans SC"/>
                <a:ea typeface="Noto Sans SC"/>
                <a:cs typeface="Noto Sans SC"/>
                <a:sym typeface="Noto Sans SC"/>
              </a:rPr>
              <a:t>Note: Conventional chat tools like Doubao and Yuanbao cannot directly integrate with Ding.</a:t>
            </a:r>
          </a:p>
        </p:txBody>
      </p:sp>
      <p:sp>
        <p:nvSpPr>
          <p:cNvPr id="14" name="AutoShape 14"/>
          <p:cNvSpPr/>
          <p:nvPr/>
        </p:nvSpPr>
        <p:spPr>
          <a:xfrm>
            <a:off x="8128000" y="1778000"/>
            <a:ext cx="3302000" cy="4318000"/>
          </a:xfrm>
          <a:prstGeom prst="roundRect">
            <a:avLst>
              <a:gd name="adj" fmla="val 4615"/>
            </a:avLst>
          </a:prstGeom>
          <a:solidFill>
            <a:srgbClr val="1E293B">
              <a:alpha val="90000"/>
            </a:srgbClr>
          </a:solidFill>
          <a:ln w="12700" cap="flat" cmpd="sng">
            <a:solidFill>
              <a:srgbClr val="22D3EE">
                <a:alpha val="5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082800"/>
            <a:ext cx="508000" cy="508000"/>
          </a:xfrm>
          <a:prstGeom prst="rect">
            <a:avLst/>
          </a:prstGeom>
        </p:spPr>
      </p:pic>
      <p:sp>
        <p:nvSpPr>
          <p:cNvPr id="16" name="AutoShape 16"/>
          <p:cNvSpPr/>
          <p:nvPr/>
        </p:nvSpPr>
        <p:spPr>
          <a:xfrm>
            <a:off x="9017000" y="2082800"/>
            <a:ext cx="215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03 Core Value</a:t>
            </a:r>
            <a:endParaRPr lang="en-US" sz="1100"/>
          </a:p>
        </p:txBody>
      </p:sp>
      <p:sp>
        <p:nvSpPr>
          <p:cNvPr id="17" name="AutoShape 17"/>
          <p:cNvSpPr/>
          <p:nvPr/>
        </p:nvSpPr>
        <p:spPr>
          <a:xfrm>
            <a:off x="8382000" y="2794000"/>
            <a:ext cx="2794000" cy="25400"/>
          </a:xfrm>
          <a:prstGeom prst="roundRect">
            <a:avLst>
              <a:gd name="adj" fmla="val 0"/>
            </a:avLst>
          </a:prstGeom>
          <a:solidFill>
            <a:srgbClr val="22D3EE">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382000" y="3175000"/>
            <a:ext cx="2794000" cy="24130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sz="1400" b="0" i="0" u="none" strike="noStrike">
                <a:solidFill>
                  <a:srgbClr val="E5E7EB"/>
                </a:solidFill>
                <a:latin typeface="Noto Sans SC"/>
                <a:ea typeface="Noto Sans SC"/>
                <a:cs typeface="Noto Sans SC"/>
                <a:sym typeface="Noto Sans SC"/>
              </a:rPr>
              <a:t>Purpose-built for the agent era, surpassing traditional RAG solutions:</a:t>
            </a:r>
            <a:endParaRPr lang="en-US" sz="1100"/>
          </a:p>
          <a:p>
            <a:pPr marL="0" indent="0" algn="l">
              <a:lnSpc>
                <a:spcPct val="116666"/>
              </a:lnSpc>
            </a:pPr>
            <a:r>
              <a:rPr lang="en-US" sz="1300" b="0" i="0" u="none" strike="noStrike">
                <a:solidFill>
                  <a:srgbClr val="22D3EE"/>
                </a:solidFill>
                <a:latin typeface="Noto Sans SC"/>
                <a:ea typeface="Noto Sans SC"/>
                <a:cs typeface="Noto Sans SC"/>
                <a:sym typeface="Noto Sans SC"/>
              </a:rPr>
              <a:t>✔ Trustworthy evidence sources — no hallucinations</a:t>
            </a:r>
          </a:p>
          <a:p>
            <a:pPr marL="0" indent="0" algn="l">
              <a:lnSpc>
                <a:spcPct val="116666"/>
              </a:lnSpc>
            </a:pPr>
            <a:r>
              <a:rPr lang="en-US" sz="1300" b="0" i="0" u="none" strike="noStrike">
                <a:solidFill>
                  <a:srgbClr val="22D3EE"/>
                </a:solidFill>
                <a:latin typeface="Noto Sans SC"/>
                <a:ea typeface="Noto Sans SC"/>
                <a:cs typeface="Noto Sans SC"/>
                <a:sym typeface="Noto Sans SC"/>
              </a:rPr>
              <a:t>✔ One-click web import for rapid knowledge building</a:t>
            </a:r>
          </a:p>
          <a:p>
            <a:pPr marL="0" indent="0" algn="l">
              <a:lnSpc>
                <a:spcPct val="116666"/>
              </a:lnSpc>
            </a:pPr>
            <a:r>
              <a:rPr lang="en-US" sz="1300" b="0" i="0" u="none" strike="noStrike">
                <a:solidFill>
                  <a:srgbClr val="22D3EE"/>
                </a:solidFill>
                <a:latin typeface="Noto Sans SC"/>
                <a:ea typeface="Noto Sans SC"/>
                <a:cs typeface="Noto Sans SC"/>
                <a:sym typeface="Noto Sans SC"/>
              </a:rPr>
              <a:t>✔ Evolving knowledge base &amp; interconnected knowledge network</a:t>
            </a:r>
          </a:p>
          <a:p>
            <a:pPr marL="0" indent="0" algn="l">
              <a:lnSpc>
                <a:spcPct val="116666"/>
              </a:lnSpc>
            </a:pPr>
            <a:r>
              <a:rPr lang="en-US" sz="1300" b="0" i="0" u="none" strike="noStrike">
                <a:solidFill>
                  <a:srgbClr val="22D3EE"/>
                </a:solidFill>
                <a:latin typeface="Noto Sans SC"/>
                <a:ea typeface="Noto Sans SC"/>
                <a:cs typeface="Noto Sans SC"/>
                <a:sym typeface="Noto Sans SC"/>
              </a:rPr>
              <a:t>✔ Strict enterprise-grade permission control system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540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a:ea typeface="Noto Sans SC"/>
                <a:cs typeface="Noto Sans SC"/>
                <a:sym typeface="Noto Sans SC"/>
              </a:rPr>
              <a:t>The Future is Here — Evolve Now</a:t>
            </a:r>
            <a:endParaRPr lang="en-US" sz="1100"/>
          </a:p>
        </p:txBody>
      </p:sp>
      <p:sp>
        <p:nvSpPr>
          <p:cNvPr id="4" name="AutoShape 4"/>
          <p:cNvSpPr/>
          <p:nvPr/>
        </p:nvSpPr>
        <p:spPr>
          <a:xfrm>
            <a:off x="0" y="3937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22D3EE"/>
                </a:solidFill>
                <a:latin typeface="Noto Sans SC"/>
                <a:ea typeface="Noto Sans SC"/>
                <a:cs typeface="Noto Sans SC"/>
                <a:sym typeface="Noto Sans SC"/>
              </a:rPr>
              <a:t>Ready to Begin Your Enterprise’s Knowledge Evolution Journey?</a:t>
            </a:r>
            <a:endParaRPr lang="en-US" sz="1100"/>
          </a:p>
        </p:txBody>
      </p:sp>
      <p:sp>
        <p:nvSpPr>
          <p:cNvPr id="5" name="AutoShape 5"/>
          <p:cNvSpPr/>
          <p:nvPr/>
        </p:nvSpPr>
        <p:spPr>
          <a:xfrm>
            <a:off x="4699000" y="5207000"/>
            <a:ext cx="2794000" cy="609600"/>
          </a:xfrm>
          <a:prstGeom prst="roundRect">
            <a:avLst>
              <a:gd name="adj" fmla="val 16666"/>
            </a:avLst>
          </a:prstGeom>
          <a:solidFill>
            <a:srgbClr val="22D3E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699000" y="5308600"/>
            <a:ext cx="27940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11827"/>
                </a:solidFill>
                <a:latin typeface="Noto Sans SC"/>
                <a:ea typeface="Noto Sans SC"/>
                <a:cs typeface="Noto Sans SC"/>
                <a:sym typeface="Noto Sans SC"/>
              </a:rPr>
              <a:t>BEGIN YOUR EVOLUTION JOURNEY</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3050</Words>
  <Application>Microsoft Macintosh PowerPoint</Application>
  <PresentationFormat>宽屏</PresentationFormat>
  <Paragraphs>251</Paragraphs>
  <Slides>22</Slides>
  <Notes>22</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22</vt:i4>
      </vt:variant>
    </vt:vector>
  </HeadingPairs>
  <TitlesOfParts>
    <vt:vector size="26"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RoamerXV</cp:lastModifiedBy>
  <cp:revision>4</cp:revision>
  <dcterms:modified xsi:type="dcterms:W3CDTF">2026-07-23T09:42:40Z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{"Label":"1","ContentProducer":"001191110102MACQD9K64010000","ProduceID":"7644382737495526353","ReservedCode1":"","ContentPropagator":"","PropagateID":"","ReservedCode2":""}</vt:lpwstr>
  </property>
</Properties>
</file>
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29.06.2026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大家好，今天我将向大家介绍一个专为AI智能体打造的解决方案——“钉”。它是一个可信的知识引擎，旨在让AI能够安全、可追溯地使用您的内部资料，将数据转化为可靠的决策依据。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“钉”这个名字有双重含义。“钉”代表着准确可靠的原始资料，是决策的基石；“叮”则代表知识碰撞后产生的顿悟。这一理念源于顶尖AI专家Andrej Karpathy的洞察，他认为AI应成为知识库管理员。而“钉”正是这一先进理论的商业实践者。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简单来说，“钉”就是一个让AI智能体能够安全、可追溯地使用您内部资料的知识库。它提供了从资料管理、自动加工到精准检索的全套能力。但请记住，“钉”本身不是聊天机器人，它需要与OpenClaw这样的AI智能体配合使用，才能发挥最大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“钉”的核心价值在于推动知识管理的三级演进。首先，它帮助您建立一个有序的“资料库”。接着，通过智能加工，将其升级为一个能懂内容、能关联的“知识库”。最终，通过提供带出处的可信回答，将其打造为支撑业务决策的“决策库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要理解“钉”，必须分清两种AI：普通聊天工具和AI智能体。聊天工具适合日常闲聊，而AI智能体则像专业助理，能执行复杂任务。“钉”正是为这些能办事的AI智能体设计的，它通过技能包的形式，让AI能够规范地管理企业知识。简单来说，Chat陪聊，Agent办事，而“钉”只服务于能办事的AI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什么智能体需要“钉”？因为智能体办事必须依赖内部资料，但直接把整个资料库塞进模型既不现实也不安全。“钉”提供了最佳解决方案：先从知识库中精准检索证据，再交给智能体生成答案，并附上原文出处，确保了回答的准确性和可信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接下来，我们来看看“钉”的三大核心亮点。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第一，全链路连接。我们致力于打破企业内部人与业务、业务与系统之间的信息孤岛，打造一张零延迟的即时连接网络，确保每一条指令、每一份数据都能精准、快速地触达目标。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第二，极致效率引擎。引入AI技术，让系统拥有智能的“大脑”，自动化处理繁琐的重复流程，释放员工的精力去做更有创造性、更有价值的工作，从而驱动组织效率的全面提升。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第三，企业级安全底座。安全是数字化转型的基石。我们采用高标准的国密算法和端到端加密技术，为企业的数据资产和业务流转构建起坚不可摧的安全防线，让企业用得放心。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个亮点是“网上资料，一条龙入库”。您只需提供一个主题或链接，“钉”就能自动完成从查找、下载到入库、整理的全过程。这极大地提升了知识获取效率，让网上的零散信息能迅速沉淀为企业的正式知识资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第二个亮点是“知识可进化”。传统知识库很容易僵化，而“钉”通过自动处理和持续更新机制，让知识库成为一个可以不断生长和优化的有机整体。您可以随时对知识进行补充和完善，让它始终保持活力。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第三个亮点是“节点可联通”。“钉”通过标签关系图和无缝跳转功能，将原本孤立的文件链接成一个互联互通的知识网络。这不仅让知识更容易被发现，更能从中涌现出新的洞见，实现知识价值的最大化。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，三句话可以读懂“钉”。第一，它是先进理论的践行者，以LLM-Wiki理论为基石，推动知识从资料向决策进化。第二，它的定位非常清晰，服务对象是AI智能体而非最终用户，提供查库、入库、溯源回答的全套能力。第三，它全面超越了传统的RAG方案，不仅只做检索，还支持知识的进化和联通，让企业知识真正活起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“钉”的部署非常简单。它以技能包的形式存在，可以一键安装到OpenClaw、Hermes等主流AI智能体中。这意味着您可以即刻为您的AI智能体注入强大的、可信的内部知识管理能力，而无需进行复杂的开发和配置工作。无论是在代码编辑器、任务执行引擎还是开源框架中，都能快速赋能，提升您的AI效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“钉”是企业在AI时代保持竞争力的核心基础设施。它将释放您沉睡的数据资产，将信息转化为洞察，将知识转化为决策力。未来已来，进化即刻开始。感谢大家的聆听！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jpe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2.jpe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sv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1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svg"/><Relationship Id="rId5" Type="http://schemas.openxmlformats.org/officeDocument/2006/relationships/image" Target="../media/image11.svg"/><Relationship Id="rId4" Type="http://schemas.openxmlformats.org/officeDocument/2006/relationships/image" Target="../media/image2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.jpeg"/><Relationship Id="rId7" Type="http://schemas.openxmlformats.org/officeDocument/2006/relationships/image" Target="../media/image31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svg"/><Relationship Id="rId5" Type="http://schemas.openxmlformats.org/officeDocument/2006/relationships/image" Target="../media/image19.svg"/><Relationship Id="rId4" Type="http://schemas.openxmlformats.org/officeDocument/2006/relationships/image" Target="../media/image29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1270000"/>
            <a:ext cx="76200" cy="5080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2032000"/>
            <a:ext cx="1016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「钉」—— 赋能AI智能体的可信知识引擎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3810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让AI安全、可追溯地使用您的内部资料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5334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spc="300">
                <a:solidFill>
                  <a:srgbClr val="22D3EE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TRUSTED KNOWLEDGE ENGINE FOR AI AGENTS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「钉」的双重含义与理论基石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22D3E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9500" y="20320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2006600"/>
            <a:ext cx="3937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「钉」：精准的知识锚点</a:t>
            </a:r>
            <a:endParaRPr lang="en-US" sz="1100"/>
          </a:p>
          <a:p>
            <a:pPr marL="0" indent="0" algn="l">
              <a:lnSpc>
                <a:spcPct val="116666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代表为 AI 智能体提供</a:t>
            </a:r>
            <a:r>
              <a:rPr lang="en-US" sz="1300" b="1" i="0" u="none" strike="noStrike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准确、可靠</a:t>
            </a:r>
            <a:r>
              <a:rPr lang="en-US" sz="1300" b="0" i="0" u="none" strike="noStrike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的原始资料，是智能体进行逻辑推理、生成决策建议的坚实数据基石，从源头确保信息的真实性与权威性。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9500" y="39370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78000" y="3911600"/>
            <a:ext cx="3937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ACC15"/>
                </a:solidFill>
                <a:latin typeface="Noto Sans SC"/>
                <a:ea typeface="Noto Sans SC"/>
                <a:cs typeface="Noto Sans SC"/>
                <a:sym typeface="Noto Sans SC"/>
              </a:rPr>
              <a:t>「叮」：顿悟的价值创造</a:t>
            </a:r>
            <a:endParaRPr lang="en-US" sz="1100"/>
          </a:p>
          <a:p>
            <a:pPr marL="0" indent="0" algn="l">
              <a:lnSpc>
                <a:spcPct val="116666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代表知识经过深度的</a:t>
            </a:r>
            <a:r>
              <a:rPr lang="en-US" sz="1300" b="1" i="0" u="none" strike="noStrike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积累与融合</a:t>
            </a:r>
            <a:r>
              <a:rPr lang="en-US" sz="1300" b="0" i="0" u="none" strike="noStrike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后，在跨领域碰撞中产生的</a:t>
            </a:r>
            <a:r>
              <a:rPr lang="en-US" sz="1300" b="1" i="0" u="none" strike="noStrike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“顿悟感”</a:t>
            </a:r>
            <a:r>
              <a:rPr lang="en-US" sz="1300" b="0" i="0" u="none" strike="noStrike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，将原本碎片化、孤岛化的信息转化为具有指导意义的商业洞察与价值增量。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6223000" y="15240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22D3E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477000" y="1905000"/>
            <a:ext cx="1143000" cy="1143000"/>
          </a:xfrm>
          <a:prstGeom prst="roundRect">
            <a:avLst>
              <a:gd name="adj" fmla="val 8888"/>
            </a:avLst>
          </a:prstGeom>
          <a:noFill/>
          <a:ln w="25400" cap="flat" cmpd="sng">
            <a:solidFill>
              <a:srgbClr val="22D3EE">
                <a:alpha val="70000"/>
              </a:srgbClr>
            </a:solidFill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7810500" y="1968500"/>
            <a:ext cx="330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Andrej Karpathy</a:t>
            </a:r>
            <a:endParaRPr lang="en-US" sz="1100"/>
          </a:p>
          <a:p>
            <a:pPr marL="0" indent="0" algn="l">
              <a:lnSpc>
                <a:spcPct val="125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前 OpenAI 创始成员 / Tesla 人工智能总监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477000" y="3302000"/>
            <a:ext cx="4699000" cy="1397000"/>
          </a:xfrm>
          <a:prstGeom prst="roundRect">
            <a:avLst>
              <a:gd name="adj" fmla="val 7272"/>
            </a:avLst>
          </a:prstGeom>
          <a:solidFill>
            <a:srgbClr val="0F172A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667500" y="3492500"/>
            <a:ext cx="431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1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“AI 时代的知识管理，关键在于</a:t>
            </a:r>
            <a:r>
              <a:rPr lang="en-US" sz="1300" b="1" i="1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摄入资料时就完成编译</a:t>
            </a:r>
            <a:r>
              <a:rPr lang="en-US" sz="1300" b="0" i="1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（摘要、关联、更新），让智能体真正成为企业的</a:t>
            </a:r>
            <a:r>
              <a:rPr lang="en-US" sz="1300" b="1" i="1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‘知识库管理员’</a:t>
            </a:r>
            <a:r>
              <a:rPr lang="en-US" sz="1300" b="0" i="1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。”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477000" y="4953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「钉」正是这一理论的商业践行者</a:t>
            </a:r>
            <a:endParaRPr lang="en-US" sz="1100"/>
          </a:p>
          <a:p>
            <a:pPr marL="0" indent="0" algn="l">
              <a:lnSpc>
                <a:spcPct val="116666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专注打造“入库 — 整理 — 检索 — 带出处作答”的全流程知识管理闭环，赋能每一个AI智能体。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「钉」的精准定位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1079500"/>
          </a:xfrm>
          <a:prstGeom prst="roundRect">
            <a:avLst>
              <a:gd name="adj" fmla="val 9411"/>
            </a:avLst>
          </a:prstGeom>
          <a:solidFill>
            <a:srgbClr val="1E293B">
              <a:alpha val="90000"/>
            </a:srgbClr>
          </a:solidFill>
          <a:ln w="25400" cap="flat" cmpd="sng">
            <a:solidFill>
              <a:srgbClr val="22D3E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587500"/>
            <a:ext cx="10160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8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「钉」是让</a:t>
            </a:r>
            <a:r>
              <a:rPr lang="en-US" sz="18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AI 智能体</a:t>
            </a:r>
            <a:r>
              <a:rPr lang="en-US" sz="18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安全、可追溯地使用</a:t>
            </a:r>
            <a:r>
              <a:rPr lang="en-US" sz="18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「本单位资料」</a:t>
            </a:r>
            <a:r>
              <a:rPr lang="en-US" sz="18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的知识库与检索服务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794000"/>
            <a:ext cx="1981200" cy="2095500"/>
          </a:xfrm>
          <a:prstGeom prst="roundRect">
            <a:avLst>
              <a:gd name="adj" fmla="val 5128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22D3E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35100" y="2984500"/>
            <a:ext cx="609600" cy="609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889000" y="3810000"/>
            <a:ext cx="17272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资料存放与管理</a:t>
            </a:r>
            <a:endParaRPr lang="en-US" sz="1100"/>
          </a:p>
          <a:p>
            <a:pPr marL="0" indent="0" algn="ctr">
              <a:lnSpc>
                <a:spcPct val="100000"/>
              </a:lnSpc>
              <a:spcBef>
                <a:spcPts val="600"/>
              </a:spcBef>
            </a:pPr>
            <a:r>
              <a:rPr lang="en-US" sz="11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支持多格式文件上传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预览及细粒度权限管理</a:t>
            </a:r>
          </a:p>
        </p:txBody>
      </p:sp>
      <p:sp>
        <p:nvSpPr>
          <p:cNvPr id="9" name="AutoShape 9"/>
          <p:cNvSpPr/>
          <p:nvPr/>
        </p:nvSpPr>
        <p:spPr>
          <a:xfrm>
            <a:off x="2933700" y="2794000"/>
            <a:ext cx="1981200" cy="2095500"/>
          </a:xfrm>
          <a:prstGeom prst="roundRect">
            <a:avLst>
              <a:gd name="adj" fmla="val 5128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22D3E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06800" y="29845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3060700" y="3810000"/>
            <a:ext cx="17272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知识自动加工</a:t>
            </a:r>
            <a:endParaRPr lang="en-US" sz="1100"/>
          </a:p>
          <a:p>
            <a:pPr marL="0" indent="0" algn="ctr">
              <a:lnSpc>
                <a:spcPct val="100000"/>
              </a:lnSpc>
              <a:spcBef>
                <a:spcPts val="600"/>
              </a:spcBef>
            </a:pPr>
            <a:r>
              <a:rPr lang="en-US" sz="11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自动提取关键信息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打标签并建立语义索引</a:t>
            </a:r>
          </a:p>
        </p:txBody>
      </p:sp>
      <p:sp>
        <p:nvSpPr>
          <p:cNvPr id="12" name="AutoShape 12"/>
          <p:cNvSpPr/>
          <p:nvPr/>
        </p:nvSpPr>
        <p:spPr>
          <a:xfrm>
            <a:off x="5105400" y="2794000"/>
            <a:ext cx="1981200" cy="2095500"/>
          </a:xfrm>
          <a:prstGeom prst="roundRect">
            <a:avLst>
              <a:gd name="adj" fmla="val 5128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22D3E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78500" y="2984500"/>
            <a:ext cx="609600" cy="609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232400" y="3810000"/>
            <a:ext cx="17272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高效精准检索</a:t>
            </a:r>
            <a:endParaRPr lang="en-US" sz="1100"/>
          </a:p>
          <a:p>
            <a:pPr marL="0" indent="0" algn="ctr">
              <a:lnSpc>
                <a:spcPct val="100000"/>
              </a:lnSpc>
              <a:spcBef>
                <a:spcPts val="600"/>
              </a:spcBef>
            </a:pPr>
            <a:r>
              <a:rPr lang="en-US" sz="11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支持自然语言语义搜索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快速精准定位并查找原文</a:t>
            </a:r>
          </a:p>
        </p:txBody>
      </p:sp>
      <p:sp>
        <p:nvSpPr>
          <p:cNvPr id="15" name="AutoShape 15"/>
          <p:cNvSpPr/>
          <p:nvPr/>
        </p:nvSpPr>
        <p:spPr>
          <a:xfrm>
            <a:off x="7277100" y="2794000"/>
            <a:ext cx="1981200" cy="2095500"/>
          </a:xfrm>
          <a:prstGeom prst="roundRect">
            <a:avLst>
              <a:gd name="adj" fmla="val 5128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22D3E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50200" y="2984500"/>
            <a:ext cx="609600" cy="609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404100" y="3810000"/>
            <a:ext cx="17272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外部资料整合</a:t>
            </a:r>
            <a:endParaRPr lang="en-US" sz="1100"/>
          </a:p>
          <a:p>
            <a:pPr marL="0" indent="0" algn="ctr">
              <a:lnSpc>
                <a:spcPct val="100000"/>
              </a:lnSpc>
              <a:spcBef>
                <a:spcPts val="600"/>
              </a:spcBef>
            </a:pPr>
            <a:r>
              <a:rPr lang="en-US" sz="11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自动抓取并整理网络资料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规范化处理后统一入库</a:t>
            </a:r>
          </a:p>
        </p:txBody>
      </p:sp>
      <p:sp>
        <p:nvSpPr>
          <p:cNvPr id="18" name="AutoShape 18"/>
          <p:cNvSpPr/>
          <p:nvPr/>
        </p:nvSpPr>
        <p:spPr>
          <a:xfrm>
            <a:off x="9448800" y="2794000"/>
            <a:ext cx="1981200" cy="2095500"/>
          </a:xfrm>
          <a:prstGeom prst="roundRect">
            <a:avLst>
              <a:gd name="adj" fmla="val 5128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22D3E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21900" y="2984500"/>
            <a:ext cx="609600" cy="6096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9575800" y="3810000"/>
            <a:ext cx="17272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赋能智能体</a:t>
            </a:r>
            <a:endParaRPr lang="en-US" sz="1100"/>
          </a:p>
          <a:p>
            <a:pPr marL="0" indent="0" algn="ctr">
              <a:lnSpc>
                <a:spcPct val="100000"/>
              </a:lnSpc>
              <a:spcBef>
                <a:spcPts val="600"/>
              </a:spcBef>
            </a:pPr>
            <a:r>
              <a:rPr lang="en-US" sz="11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通过标准接口连接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教会AI如何安全使用知识库</a:t>
            </a:r>
          </a:p>
        </p:txBody>
      </p:sp>
      <p:sp>
        <p:nvSpPr>
          <p:cNvPr id="21" name="AutoShape 21"/>
          <p:cNvSpPr/>
          <p:nvPr/>
        </p:nvSpPr>
        <p:spPr>
          <a:xfrm>
            <a:off x="762000" y="5207000"/>
            <a:ext cx="5207000" cy="1270000"/>
          </a:xfrm>
          <a:prstGeom prst="roundRect">
            <a:avLst>
              <a:gd name="adj" fmla="val 8000"/>
            </a:avLst>
          </a:prstGeom>
          <a:solidFill>
            <a:srgbClr val="1E293B">
              <a:alpha val="95000"/>
            </a:srgbClr>
          </a:solidFill>
          <a:ln w="12700" cap="flat" cmpd="sng">
            <a:solidFill>
              <a:srgbClr val="F87171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5524500"/>
            <a:ext cx="508000" cy="5080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651000" y="5397500"/>
            <a:ext cx="406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F87171"/>
                </a:solidFill>
                <a:latin typeface="Noto Sans SC"/>
                <a:ea typeface="Noto Sans SC"/>
                <a:cs typeface="Noto Sans SC"/>
                <a:sym typeface="Noto Sans SC"/>
              </a:rPr>
              <a:t>「钉」不是聊天机器人</a:t>
            </a:r>
            <a:endParaRPr lang="en-US" sz="1100"/>
          </a:p>
          <a:p>
            <a:pPr marL="0" indent="0" algn="l">
              <a:lnSpc>
                <a:spcPct val="100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它本身不直接提供问答服务，核心是作为底层的知识库基座。</a:t>
            </a:r>
          </a:p>
        </p:txBody>
      </p:sp>
      <p:sp>
        <p:nvSpPr>
          <p:cNvPr id="24" name="AutoShape 24"/>
          <p:cNvSpPr/>
          <p:nvPr/>
        </p:nvSpPr>
        <p:spPr>
          <a:xfrm>
            <a:off x="6223000" y="5207000"/>
            <a:ext cx="5207000" cy="1270000"/>
          </a:xfrm>
          <a:prstGeom prst="roundRect">
            <a:avLst>
              <a:gd name="adj" fmla="val 8000"/>
            </a:avLst>
          </a:prstGeom>
          <a:solidFill>
            <a:srgbClr val="1E293B">
              <a:alpha val="95000"/>
            </a:srgbClr>
          </a:solidFill>
          <a:ln w="12700" cap="flat" cmpd="sng">
            <a:solidFill>
              <a:srgbClr val="34D399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13500" y="5524500"/>
            <a:ext cx="508000" cy="5080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7112000" y="5397500"/>
            <a:ext cx="406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需配合支持标准 Skill 的智能体使用</a:t>
            </a:r>
            <a:endParaRPr lang="en-US" sz="1100"/>
          </a:p>
          <a:p>
            <a:pPr marL="0" indent="0" algn="l">
              <a:lnSpc>
                <a:spcPct val="100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如 OpenClaw、Hermes 等 AI 智能体，需集成对应技能后调用。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知识管理的三级演进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「钉」推动组织知识管理实现三级跳，从简单存储到辅助科学决策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302000" cy="3048000"/>
          </a:xfrm>
          <a:prstGeom prst="roundRect">
            <a:avLst>
              <a:gd name="adj" fmla="val 0"/>
            </a:avLst>
          </a:prstGeom>
          <a:solidFill>
            <a:srgbClr val="1F2937">
              <a:alpha val="90000"/>
            </a:srgbClr>
          </a:solidFill>
          <a:ln w="12700" cap="flat" cmpd="sng">
            <a:solidFill>
              <a:srgbClr val="22D3EE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22860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2235200"/>
            <a:ext cx="241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01 / 资料库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048000"/>
            <a:ext cx="2921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🔍 您要解决的问题：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海量文件杂乱，难以统一归集，急需解决“收进来、找得到”的基础问题。</a:t>
            </a:r>
          </a:p>
          <a:p>
            <a:pPr marL="0"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400" b="1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⚡ 「钉」在做什么：</a:t>
            </a:r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提供基础的文件上传、在线预览、多层级文件夹管理和目录索引功能。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4445000" y="2032000"/>
            <a:ext cx="3302000" cy="3048000"/>
          </a:xfrm>
          <a:prstGeom prst="roundRect">
            <a:avLst>
              <a:gd name="adj" fmla="val 0"/>
            </a:avLst>
          </a:prstGeom>
          <a:solidFill>
            <a:srgbClr val="1F2937">
              <a:alpha val="90000"/>
            </a:srgbClr>
          </a:solidFill>
          <a:ln w="12700" cap="flat" cmpd="sng">
            <a:solidFill>
              <a:srgbClr val="22D3EE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22860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143500" y="2235200"/>
            <a:ext cx="241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02 / 知识库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35500" y="3048000"/>
            <a:ext cx="2921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🔗 您要解决的问题：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希望知识内容被系统理解，实现智能关联与精准搜索，让隐性知识显性化。</a:t>
            </a:r>
          </a:p>
          <a:p>
            <a:pPr marL="0"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400" b="1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⚡ 「钉」在做什么：</a:t>
            </a:r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通过自动笔记、智能标签、语义检索和标签关系图谱，让孤立的知识“活”起来。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8128000" y="2032000"/>
            <a:ext cx="3302000" cy="3048000"/>
          </a:xfrm>
          <a:prstGeom prst="roundRect">
            <a:avLst>
              <a:gd name="adj" fmla="val 0"/>
            </a:avLst>
          </a:prstGeom>
          <a:solidFill>
            <a:srgbClr val="1F2937">
              <a:alpha val="90000"/>
            </a:srgbClr>
          </a:solidFill>
          <a:ln w="12700" cap="flat" cmpd="sng">
            <a:solidFill>
              <a:srgbClr val="22D3EE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18500" y="22860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826500" y="2235200"/>
            <a:ext cx="241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03 / 决策库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18500" y="3048000"/>
            <a:ext cx="2921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🛡️ 您要解决的问题：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解决引用无据、拍板难的痛点，为业务决策提供权威、可追溯的依据。</a:t>
            </a:r>
          </a:p>
          <a:p>
            <a:pPr marL="0"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400" b="1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⚡ 「钉」在做什么：</a:t>
            </a:r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智能检索时</a:t>
            </a:r>
            <a:r>
              <a:rPr lang="en-US" sz="13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附带文件名与原文摘录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，确保信息来源真实可靠。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762000" y="54610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0F172A">
              <a:alpha val="80000"/>
            </a:srgbClr>
          </a:solidFill>
          <a:ln w="12700" cap="flat" cmpd="sng">
            <a:solidFill>
              <a:srgbClr val="22D3E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762000" y="5689600"/>
            <a:ext cx="1066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演进方向：从</a:t>
            </a: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「堆文件」</a:t>
            </a:r>
            <a:r>
              <a:rPr lang="en-US" sz="1800" b="0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➜</a:t>
            </a: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「活知识」</a:t>
            </a:r>
            <a:r>
              <a:rPr lang="en-US" sz="1800" b="0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➜</a:t>
            </a:r>
            <a:r>
              <a:rPr lang="en-US" sz="20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「可信赖的决策依据」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普通聊天工具 vs. AI智能体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很多人把「豆包」和「OpenClaw」都叫AI，但它们是两种在能力边界上完全不同的产品类型。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5207000" cy="3429000"/>
          </a:xfrm>
          <a:prstGeom prst="roundRect">
            <a:avLst>
              <a:gd name="adj" fmla="val 2962"/>
            </a:avLst>
          </a:prstGeom>
          <a:solidFill>
            <a:srgbClr val="1E293B">
              <a:alpha val="95000"/>
            </a:srgbClr>
          </a:solidFill>
          <a:ln w="12700" cap="flat" cmpd="sng">
            <a:solidFill>
              <a:srgbClr val="3B82F6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 l="24114" r="24114"/>
          <a:stretch>
            <a:fillRect/>
          </a:stretch>
        </p:blipFill>
        <p:spPr>
          <a:xfrm>
            <a:off x="952500" y="2286000"/>
            <a:ext cx="1778000" cy="2286000"/>
          </a:xfrm>
          <a:prstGeom prst="roundRect">
            <a:avLst>
              <a:gd name="adj" fmla="val 5714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2921000" y="2222500"/>
            <a:ext cx="2794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60A5FA"/>
                </a:solidFill>
                <a:latin typeface="Noto Sans SC"/>
                <a:ea typeface="Noto Sans SC"/>
                <a:cs typeface="Noto Sans SC"/>
                <a:sym typeface="Noto Sans SC"/>
              </a:rPr>
              <a:t>普通聊天工具 (Chat)</a:t>
            </a:r>
            <a:endParaRPr lang="en-US" sz="1100"/>
          </a:p>
          <a:p>
            <a:pPr marL="0"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3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代表产品：</a:t>
            </a: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豆包、元宝、ChatGPT</a:t>
            </a:r>
          </a:p>
          <a:p>
            <a:pPr marL="0" indent="0" algn="l">
              <a:lnSpc>
                <a:spcPct val="116666"/>
              </a:lnSpc>
            </a:pPr>
            <a:r>
              <a:rPr lang="en-US" sz="13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交互模式：</a:t>
            </a: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一问一答的</a:t>
            </a:r>
            <a:r>
              <a:rPr lang="en-US" sz="1200" b="1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纯聊天</a:t>
            </a: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对话，无行动能力</a:t>
            </a:r>
          </a:p>
          <a:p>
            <a:pPr marL="0" indent="0" algn="l">
              <a:lnSpc>
                <a:spcPct val="116666"/>
              </a:lnSpc>
            </a:pPr>
            <a:r>
              <a:rPr lang="en-US" sz="13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核心能力：</a:t>
            </a: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知识问答、文案写作、日常闲聊</a:t>
            </a:r>
          </a:p>
          <a:p>
            <a:pPr marL="0" indent="0" algn="l">
              <a:lnSpc>
                <a:spcPct val="116666"/>
              </a:lnSpc>
            </a:pPr>
            <a:r>
              <a:rPr lang="en-US" sz="13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能否使用「钉」：</a:t>
            </a:r>
            <a:r>
              <a:rPr lang="en-US" sz="12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❌ 不能直接使用</a:t>
            </a:r>
          </a:p>
        </p:txBody>
      </p:sp>
      <p:sp>
        <p:nvSpPr>
          <p:cNvPr id="8" name="AutoShape 8"/>
          <p:cNvSpPr/>
          <p:nvPr/>
        </p:nvSpPr>
        <p:spPr>
          <a:xfrm>
            <a:off x="6223000" y="2032000"/>
            <a:ext cx="5207000" cy="3429000"/>
          </a:xfrm>
          <a:prstGeom prst="roundRect">
            <a:avLst>
              <a:gd name="adj" fmla="val 2962"/>
            </a:avLst>
          </a:prstGeom>
          <a:solidFill>
            <a:srgbClr val="1E293B">
              <a:alpha val="95000"/>
            </a:srgbClr>
          </a:solidFill>
          <a:ln w="12700" cap="flat" cmpd="sng">
            <a:solidFill>
              <a:srgbClr val="22D3EE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rcRect l="20833" r="20833"/>
          <a:stretch>
            <a:fillRect/>
          </a:stretch>
        </p:blipFill>
        <p:spPr>
          <a:xfrm>
            <a:off x="6413500" y="2286000"/>
            <a:ext cx="1778000" cy="2286000"/>
          </a:xfrm>
          <a:prstGeom prst="roundRect">
            <a:avLst>
              <a:gd name="adj" fmla="val 5714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8382000" y="2222500"/>
            <a:ext cx="2794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AI智能体 (Agent)</a:t>
            </a:r>
            <a:endParaRPr lang="en-US" sz="1100"/>
          </a:p>
          <a:p>
            <a:pPr marL="0"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3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代表产品：</a:t>
            </a: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OpenClaw, Hermes, Claude Code</a:t>
            </a:r>
          </a:p>
          <a:p>
            <a:pPr marL="0" indent="0" algn="l">
              <a:lnSpc>
                <a:spcPct val="116666"/>
              </a:lnSpc>
            </a:pPr>
            <a:r>
              <a:rPr lang="en-US" sz="13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交互模式：</a:t>
            </a: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接受指令，自主拆解并执行</a:t>
            </a:r>
            <a:r>
              <a:rPr lang="en-US" sz="1200" b="1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多步任务</a:t>
            </a:r>
          </a:p>
          <a:p>
            <a:pPr marL="0" indent="0" algn="l">
              <a:lnSpc>
                <a:spcPct val="116666"/>
              </a:lnSpc>
            </a:pPr>
            <a:r>
              <a:rPr lang="en-US" sz="13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核心能力：</a:t>
            </a: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工具调用、流程自动化、复杂逻辑推理</a:t>
            </a:r>
          </a:p>
          <a:p>
            <a:pPr marL="0" indent="0" algn="l">
              <a:lnSpc>
                <a:spcPct val="116666"/>
              </a:lnSpc>
            </a:pPr>
            <a:r>
              <a:rPr lang="en-US" sz="13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能否使用「钉」：</a:t>
            </a:r>
            <a:r>
              <a:rPr lang="en-US" sz="12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✅ 能（需安装技能包）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62000" y="5715000"/>
            <a:ext cx="10668000" cy="889000"/>
          </a:xfrm>
          <a:prstGeom prst="roundRect">
            <a:avLst>
              <a:gd name="adj" fmla="val 11428"/>
            </a:avLst>
          </a:prstGeom>
          <a:solidFill>
            <a:srgbClr val="0F172A">
              <a:alpha val="90000"/>
            </a:srgbClr>
          </a:solidFill>
          <a:ln w="12700" cap="flat" cmpd="sng">
            <a:solidFill>
              <a:srgbClr val="FBBF24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892800"/>
            <a:ext cx="533400" cy="533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778000" y="5842000"/>
            <a:ext cx="939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Chat 负责陪聊，Agent 负责办事，而「钉」专为能办事的 Agent 提供可核对的内部资料。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智能体的“阿喀琉斯之踵”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22D3EE">
                <a:alpha val="4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159000"/>
            <a:ext cx="279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3175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办事必须读内部资料，不能靠模型记忆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4318000"/>
            <a:ext cx="279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AI智能体执行任务时，往往需要访问公司内部的各类报告、业务数据、操作规范等信息，这些领域知识是通用大模型“不知道”也“记不住”的。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22D3EE">
                <a:alpha val="4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699000" y="2159000"/>
            <a:ext cx="279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99000" y="3175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整库塞进对话不现实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99000" y="4318000"/>
            <a:ext cx="279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试图将海量内部资料一次性输入给模型，不仅成本高昂、响应速度慢，更存在严重的数据隐私泄露风险，无法保障企业信息安全。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28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22D3EE">
              <a:alpha val="10000"/>
            </a:srgbClr>
          </a:solidFill>
          <a:ln w="25400" cap="flat" cmpd="sng">
            <a:solidFill>
              <a:srgbClr val="22D3EE">
                <a:alpha val="9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8382000" y="2159000"/>
            <a:ext cx="279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82000" y="3175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「钉」提供了最佳解决方案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82000" y="4191000"/>
            <a:ext cx="2794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4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● 先检索证据，再生成答案：</a:t>
            </a:r>
            <a:r>
              <a:rPr lang="en-US" sz="1300" b="0" i="0" u="none" strike="noStrike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从知识库精准匹配原文片段，再交由智能体整理表述。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4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● 提供可信证据源：</a:t>
            </a:r>
            <a:r>
              <a:rPr lang="en-US" sz="1300" b="0" i="0" u="none" strike="noStrike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回答有据可查，有效规避模型“一本正经胡说八道”的幻觉风险。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核心亮点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22D3E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81200" y="2413000"/>
            <a:ext cx="863600" cy="863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889000" y="3556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全链路连接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4572000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打通人与业务、业务与系统的壁垒，构建企业级的即时连接网络，实现信息的零延迟流转。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1905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22D3E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64200" y="2413000"/>
            <a:ext cx="863600" cy="863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572000" y="3556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极致效率引擎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35500" y="4572000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AI 驱动的智能协同，自动化处理重复性流程，让员工聚焦于高价值创造，整体效率显著跃升。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28000" y="1905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22D3E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47200" y="2413000"/>
            <a:ext cx="863600" cy="863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255000" y="3556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企业级安全底座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18500" y="4572000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基于国密算法的加密技术，提供端到端的安全防护，全方位保障企业数据资产与业务流转安全。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亮点一：网上资料，一条龙入库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l="19381" r="19381"/>
          <a:stretch>
            <a:fillRect/>
          </a:stretch>
        </p:blipFill>
        <p:spPr>
          <a:xfrm>
            <a:off x="762000" y="1778000"/>
            <a:ext cx="4826000" cy="4318000"/>
          </a:xfrm>
          <a:prstGeom prst="roundRect">
            <a:avLst>
              <a:gd name="adj" fmla="val 3529"/>
            </a:avLst>
          </a:prstGeom>
          <a:noFill/>
          <a:ln w="25400" cap="flat" cmpd="sng">
            <a:solidFill>
              <a:srgbClr val="22D3EE">
                <a:alpha val="7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6096000" y="1778000"/>
            <a:ext cx="5334000" cy="1397000"/>
          </a:xfrm>
          <a:prstGeom prst="roundRect">
            <a:avLst>
              <a:gd name="adj" fmla="val 7272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22D3E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6500" y="20320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6985000" y="1905000"/>
            <a:ext cx="419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痛点 · PAIN POINT</a:t>
            </a:r>
            <a:endParaRPr lang="en-US" sz="1100"/>
          </a:p>
          <a:p>
            <a:pPr marL="0"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手动下载、整理、上传网上公开资料耗时耗力，重复操作容易出错，且难以系统化管理。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6096000" y="3429000"/>
            <a:ext cx="5334000" cy="1778000"/>
          </a:xfrm>
          <a:prstGeom prst="roundRect">
            <a:avLst>
              <a:gd name="adj" fmla="val 5714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22D3E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6500" y="37465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985000" y="3556000"/>
            <a:ext cx="419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解决方案 · SOLUTION</a:t>
            </a:r>
            <a:endParaRPr lang="en-US" sz="1100"/>
          </a:p>
          <a:p>
            <a:pPr marL="0"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只需给智能体一个主题或链接，即可自动完成全流程：</a:t>
            </a:r>
          </a:p>
          <a:p>
            <a:pPr marL="0" indent="0" algn="l">
              <a:lnSpc>
                <a:spcPct val="116666"/>
              </a:lnSpc>
            </a:pPr>
            <a:r>
              <a:rPr lang="en-US" sz="1300" b="1" i="0" u="none" strike="noStrike">
                <a:solidFill>
                  <a:srgbClr val="93C5FD"/>
                </a:solidFill>
                <a:latin typeface="Noto Sans SC"/>
                <a:ea typeface="Noto Sans SC"/>
                <a:cs typeface="Noto Sans SC"/>
                <a:sym typeface="Noto Sans SC"/>
              </a:rPr>
              <a:t>查找/下载 → 入库 → 提取可读笔记 → 打标签 → 建立检索索引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096000" y="5334000"/>
            <a:ext cx="5334000" cy="1270000"/>
          </a:xfrm>
          <a:prstGeom prst="roundRect">
            <a:avLst>
              <a:gd name="adj" fmla="val 8000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22D3E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86500" y="56134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985000" y="5461000"/>
            <a:ext cx="419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价值 · VALUE</a:t>
            </a:r>
            <a:endParaRPr lang="en-US" sz="1100"/>
          </a:p>
          <a:p>
            <a:pPr marL="0" indent="0" algn="l">
              <a:lnSpc>
                <a:spcPct val="116666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将互联网海量的零散信息，高效转化为企业知识库内可搜索、可引用的正式知识资产。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亮点二：知识可进化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302000" cy="4064000"/>
          </a:xfrm>
          <a:prstGeom prst="roundRect">
            <a:avLst>
              <a:gd name="adj" fmla="val 3076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33415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22860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22606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传统知识库痛点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" y="3302000"/>
            <a:ext cx="26924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4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传统知识库往往是静态的文件集合，导入后容易形成“数据孤岛”，内容僵化且难以持续更新。维护成本高，导致知识资产随时间推移逐渐失去价值。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1905000"/>
            <a:ext cx="3302000" cy="4064000"/>
          </a:xfrm>
          <a:prstGeom prst="roundRect">
            <a:avLst>
              <a:gd name="adj" fmla="val 3076"/>
            </a:avLst>
          </a:prstGeom>
          <a:solidFill>
            <a:srgbClr val="1E293B">
              <a:alpha val="90000"/>
            </a:srgbClr>
          </a:solidFill>
          <a:ln w="25400" cap="flat" cmpd="sng">
            <a:solidFill>
              <a:srgbClr val="22D3EE">
                <a:alpha val="6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49800" y="22860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334000" y="22606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智能进化方案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749800" y="3175000"/>
            <a:ext cx="26924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1000"/>
              </a:spcBef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• 多格式自动处理：</a:t>
            </a: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上传后自动提取并结构化笔记，打破格式壁垒。</a:t>
            </a:r>
            <a:endParaRPr lang="en-US" sz="1100"/>
          </a:p>
          <a:p>
            <a:pPr marL="0"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• 持续更新机制：</a:t>
            </a: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智能体可随时对内容打标、补充，保持知识鲜活。</a:t>
            </a:r>
          </a:p>
          <a:p>
            <a:pPr marL="0"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• 可视化进度管理：</a:t>
            </a: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通过“待处理清单”清晰掌控整理进度。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8128000" y="1905000"/>
            <a:ext cx="3302000" cy="4064000"/>
          </a:xfrm>
          <a:prstGeom prst="roundRect">
            <a:avLst>
              <a:gd name="adj" fmla="val 3076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33415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32800" y="22860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9017000" y="22606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432800" y="3302000"/>
            <a:ext cx="26924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4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将静态的“文档库”转变为可感知、可生长的</a:t>
            </a:r>
            <a:r>
              <a:rPr lang="en-US" sz="14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“有机知识体”</a:t>
            </a:r>
            <a:r>
              <a:rPr lang="en-US" sz="14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。让企业知识资产随业务迭代持续增值，真正赋能组织的每一次决策与协作。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亮点三：节点可联通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l="14379" r="14379"/>
          <a:stretch>
            <a:fillRect/>
          </a:stretch>
        </p:blipFill>
        <p:spPr>
          <a:xfrm>
            <a:off x="440069" y="1904704"/>
            <a:ext cx="5528931" cy="4699591"/>
          </a:xfrm>
          <a:prstGeom prst="rect">
            <a:avLst/>
          </a:prstGeom>
          <a:noFill/>
          <a:ln w="25400" cap="flat" cmpd="sng">
            <a:solidFill>
              <a:srgbClr val="22D3EE">
                <a:alpha val="6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6223000" y="1778000"/>
            <a:ext cx="5207000" cy="1397000"/>
          </a:xfrm>
          <a:prstGeom prst="roundRect">
            <a:avLst>
              <a:gd name="adj" fmla="val 7272"/>
            </a:avLst>
          </a:prstGeom>
          <a:solidFill>
            <a:srgbClr val="1E293B">
              <a:alpha val="95000"/>
            </a:srgbClr>
          </a:solidFill>
          <a:ln w="12700" cap="flat" cmpd="sng">
            <a:solidFill>
              <a:srgbClr val="22D3E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032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6985000" y="1968500"/>
            <a:ext cx="419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当前痛点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｜ 信息孤岛，难以发现关联</a:t>
            </a:r>
            <a:endParaRPr lang="en-US" sz="1100"/>
          </a:p>
          <a:p>
            <a:pPr marL="0" indent="0" algn="l">
              <a:lnSpc>
                <a:spcPct val="108333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传统文件系统被切割为孤立的文件夹，知识之间缺乏显性连接，难以通过全局视角发现知识点之间的潜在联系。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6223000" y="3429000"/>
            <a:ext cx="5207000" cy="1651000"/>
          </a:xfrm>
          <a:prstGeom prst="roundRect">
            <a:avLst>
              <a:gd name="adj" fmla="val 6153"/>
            </a:avLst>
          </a:prstGeom>
          <a:solidFill>
            <a:srgbClr val="1E293B">
              <a:alpha val="95000"/>
            </a:srgbClr>
          </a:solidFill>
          <a:ln w="12700" cap="flat" cmpd="sng">
            <a:solidFill>
              <a:srgbClr val="22D3E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3683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985000" y="3619500"/>
            <a:ext cx="419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解决方案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｜ 图谱可视化与无缝跳转</a:t>
            </a:r>
            <a:endParaRPr lang="en-US" sz="1100"/>
          </a:p>
          <a:p>
            <a:pPr marL="0" indent="0" algn="l">
              <a:lnSpc>
                <a:spcPct val="116666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2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标签关系图：</a:t>
            </a: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直观展示不同主题的联系与权重，快速识别知识团块。</a:t>
            </a:r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2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多维无缝跳转：</a:t>
            </a: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从标签可直达相关段落，从目录索引可全局鸟瞰全库。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223000" y="5207000"/>
            <a:ext cx="5207000" cy="1397000"/>
          </a:xfrm>
          <a:prstGeom prst="roundRect">
            <a:avLst>
              <a:gd name="adj" fmla="val 7272"/>
            </a:avLst>
          </a:prstGeom>
          <a:solidFill>
            <a:srgbClr val="22D3EE">
              <a:alpha val="15000"/>
            </a:srgbClr>
          </a:solidFill>
          <a:ln w="12700" cap="flat" cmpd="sng">
            <a:solidFill>
              <a:srgbClr val="22D3EE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5461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985000" y="5397500"/>
            <a:ext cx="419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｜ 构建知识网络</a:t>
            </a:r>
            <a:endParaRPr lang="en-US" sz="1100"/>
          </a:p>
          <a:p>
            <a:pPr marL="0" indent="0" algn="l">
              <a:lnSpc>
                <a:spcPct val="108333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打破物理存储的壁垒，将孤立的文件链接成一个</a:t>
            </a:r>
            <a:r>
              <a:rPr lang="en-US" sz="13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“主题 — 文件 — 段落”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相互联通的有机知识网络，最大化知识价值。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三句话总结「钉」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1E293B">
              <a:alpha val="90000"/>
            </a:srgbClr>
          </a:solidFill>
          <a:ln w="25400" cap="flat" cmpd="sng">
            <a:solidFill>
              <a:srgbClr val="22D3EE">
                <a:alpha val="4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159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3175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践行先进理论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937000"/>
            <a:ext cx="762000" cy="508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16000" y="4318000"/>
            <a:ext cx="279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「钉」是Andrej Karpathy LLM-Wiki理论的坚定实践者，致力于推动企业知识资产从静态的资料库向可推理的决策库演进。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1E293B">
              <a:alpha val="90000"/>
            </a:srgbClr>
          </a:solidFill>
          <a:ln w="25400" cap="flat" cmpd="sng">
            <a:solidFill>
              <a:srgbClr val="22D3EE">
                <a:alpha val="4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699000" y="2159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99000" y="3175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明确使用对象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99000" y="3937000"/>
            <a:ext cx="762000" cy="508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699000" y="4318000"/>
            <a:ext cx="2794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必须与</a:t>
            </a:r>
            <a:r>
              <a:rPr lang="en-US" sz="14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支持Skill的AI智能体</a:t>
            </a: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（非传统聊天工具）深度配合，才能完整实现精准查库、资料自动入库、并生成带原始出处的回答。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1E293B">
              <a:alpha val="90000"/>
            </a:srgbClr>
          </a:solidFill>
          <a:ln w="25400" cap="flat" cmpd="sng">
            <a:solidFill>
              <a:srgbClr val="22D3EE">
                <a:alpha val="4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382000" y="2159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82000" y="3175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超越传统RAG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382000" y="3937000"/>
            <a:ext cx="762000" cy="508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382000" y="4318000"/>
            <a:ext cx="2794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专为智能体工作流设计，提供</a:t>
            </a:r>
            <a:r>
              <a:rPr lang="en-US" sz="14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只检索不代答、网上资料一条龙入库、知识可进化、节点可联通</a:t>
            </a: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四大核心高级能力，构建企业知识网络的基石。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即插即用，即刻赋能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「钉」技能包可从站点一键安装到各类主流AI智能体环境，实现真正的即插即用，快速为您的AI智能体注入可信的内部知识，消除大模型幻觉风险，提升业务执行效率。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3175000"/>
            <a:ext cx="3302000" cy="1397000"/>
          </a:xfrm>
          <a:prstGeom prst="roundRect">
            <a:avLst>
              <a:gd name="adj" fmla="val 7272"/>
            </a:avLst>
          </a:prstGeom>
          <a:solidFill>
            <a:srgbClr val="1F2937">
              <a:alpha val="85000"/>
            </a:srgbClr>
          </a:solidFill>
          <a:ln w="12700" cap="flat" cmpd="sng">
            <a:solidFill>
              <a:srgbClr val="22D3EE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5433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78000" y="3454400"/>
            <a:ext cx="2032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OpenClaw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开源智能体框架</a:t>
            </a:r>
          </a:p>
        </p:txBody>
      </p:sp>
      <p:sp>
        <p:nvSpPr>
          <p:cNvPr id="8" name="AutoShape 8"/>
          <p:cNvSpPr/>
          <p:nvPr/>
        </p:nvSpPr>
        <p:spPr>
          <a:xfrm>
            <a:off x="4445000" y="3175000"/>
            <a:ext cx="3302000" cy="1397000"/>
          </a:xfrm>
          <a:prstGeom prst="roundRect">
            <a:avLst>
              <a:gd name="adj" fmla="val 7272"/>
            </a:avLst>
          </a:prstGeom>
          <a:solidFill>
            <a:srgbClr val="1F2937">
              <a:alpha val="85000"/>
            </a:srgbClr>
          </a:solidFill>
          <a:ln w="12700" cap="flat" cmpd="sng">
            <a:solidFill>
              <a:srgbClr val="22D3EE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3543300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461000" y="3454400"/>
            <a:ext cx="2032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Hermes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高效任务执行引擎</a:t>
            </a:r>
          </a:p>
        </p:txBody>
      </p:sp>
      <p:sp>
        <p:nvSpPr>
          <p:cNvPr id="11" name="AutoShape 11"/>
          <p:cNvSpPr/>
          <p:nvPr/>
        </p:nvSpPr>
        <p:spPr>
          <a:xfrm>
            <a:off x="8128000" y="3175000"/>
            <a:ext cx="3302000" cy="1397000"/>
          </a:xfrm>
          <a:prstGeom prst="roundRect">
            <a:avLst>
              <a:gd name="adj" fmla="val 7272"/>
            </a:avLst>
          </a:prstGeom>
          <a:solidFill>
            <a:srgbClr val="1F2937">
              <a:alpha val="85000"/>
            </a:srgbClr>
          </a:solidFill>
          <a:ln w="12700" cap="flat" cmpd="sng">
            <a:solidFill>
              <a:srgbClr val="22D3EE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3543300"/>
            <a:ext cx="609600" cy="609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9144000" y="3454400"/>
            <a:ext cx="2032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Claude Code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企业级代码助手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62000" y="4953000"/>
            <a:ext cx="3302000" cy="1397000"/>
          </a:xfrm>
          <a:prstGeom prst="roundRect">
            <a:avLst>
              <a:gd name="adj" fmla="val 7272"/>
            </a:avLst>
          </a:prstGeom>
          <a:solidFill>
            <a:srgbClr val="1F2937">
              <a:alpha val="85000"/>
            </a:srgbClr>
          </a:solidFill>
          <a:ln w="12700" cap="flat" cmpd="sng">
            <a:solidFill>
              <a:srgbClr val="22D3EE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321300"/>
            <a:ext cx="609600" cy="609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778000" y="5232400"/>
            <a:ext cx="2032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Codex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GitHub AI 编码平台</a:t>
            </a:r>
          </a:p>
        </p:txBody>
      </p:sp>
      <p:sp>
        <p:nvSpPr>
          <p:cNvPr id="17" name="AutoShape 17"/>
          <p:cNvSpPr/>
          <p:nvPr/>
        </p:nvSpPr>
        <p:spPr>
          <a:xfrm>
            <a:off x="4445000" y="4953000"/>
            <a:ext cx="3302000" cy="1397000"/>
          </a:xfrm>
          <a:prstGeom prst="roundRect">
            <a:avLst>
              <a:gd name="adj" fmla="val 7272"/>
            </a:avLst>
          </a:prstGeom>
          <a:solidFill>
            <a:srgbClr val="1F2937">
              <a:alpha val="85000"/>
            </a:srgbClr>
          </a:solidFill>
          <a:ln w="12700" cap="flat" cmpd="sng">
            <a:solidFill>
              <a:srgbClr val="22D3EE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99000" y="5321300"/>
            <a:ext cx="609600" cy="609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5461000" y="5232400"/>
            <a:ext cx="2032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Cursor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AI 原生代码编辑器</a:t>
            </a:r>
          </a:p>
        </p:txBody>
      </p:sp>
      <p:sp>
        <p:nvSpPr>
          <p:cNvPr id="20" name="AutoShape 20"/>
          <p:cNvSpPr/>
          <p:nvPr/>
        </p:nvSpPr>
        <p:spPr>
          <a:xfrm>
            <a:off x="8128000" y="4953000"/>
            <a:ext cx="3302000" cy="1397000"/>
          </a:xfrm>
          <a:prstGeom prst="roundRect">
            <a:avLst>
              <a:gd name="adj" fmla="val 7272"/>
            </a:avLst>
          </a:prstGeom>
          <a:solidFill>
            <a:srgbClr val="1F2937">
              <a:alpha val="85000"/>
            </a:srgbClr>
          </a:solidFill>
          <a:ln w="12700" cap="flat" cmpd="sng">
            <a:solidFill>
              <a:srgbClr val="22D3EE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82000" y="5321300"/>
            <a:ext cx="609600" cy="609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9144000" y="5232400"/>
            <a:ext cx="2032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更多兼容环境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支持所有标准Skill协议的智能体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540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未来已来，即刻进化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937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E5E7EB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准备好开启您企业的知识进化之路了吗？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334000" y="5080000"/>
            <a:ext cx="1524000" cy="508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0" y="5588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 spc="400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START EVOLUTION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1094</Words>
  <Application>Microsoft Macintosh PowerPoint</Application>
  <PresentationFormat>宽屏</PresentationFormat>
  <Paragraphs>172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RoamerXV</cp:lastModifiedBy>
  <cp:revision>3</cp:revision>
  <dcterms:modified xsi:type="dcterms:W3CDTF">2026-06-29T00:54:20Z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{"Label":"1","ContentProducer":"001191110102MACQD9K64010000","ProduceID":"7644385215566089167","ReservedCode1":"","ContentPropagator":"","PropagateID":"","ReservedCode2":""}</vt:lpwstr>
  </property>
</Properties>
</file>